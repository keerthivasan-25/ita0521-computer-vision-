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95B07BB-9495-6D07-6821-A279A5C0CF04}">
          <p14:sldIdLst>
            <p14:sldId id="256"/>
            <p14:sldId id="257"/>
          </p14:sldIdLst>
        </p14:section>
        <p14:section name="Concept" id="{78D392AA-8E6A-7ECE-BDB6-01285BA4C545}">
          <p14:sldIdLst>
            <p14:sldId id="258"/>
            <p14:sldId id="259"/>
            <p14:sldId id="260"/>
          </p14:sldIdLst>
        </p14:section>
        <p14:section name="Numerical problem" id="{52889E29-AF8A-6D9C-3616-D86B2AB91041}">
          <p14:sldIdLst>
            <p14:sldId id="261"/>
            <p14:sldId id="262"/>
          </p14:sldIdLst>
        </p14:section>
        <p14:section name="Wrap-up" id="{7FC9E2EF-07DC-E8E0-396E-7A4A1EED4196}">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 /></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 /></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1B26"/>
                </a:solidFill>
                <a:latin typeface="+mn-lt"/>
              </a:defRPr>
            </a:pPr>
            <a:r>
              <a:rPr sz="1400" b="0" i="0" u="none" strike="noStrike">
                <a:solidFill>
                  <a:srgbClr val="161B26"/>
                </a:solidFill>
                <a:latin typeface="+mn-lt"/>
              </a:rPr>
              <a:t>Input histogram (illustrative)</a:t>
            </a:r>
          </a:p>
        </c:rich>
      </c:tx>
      <c:overlay val="0"/>
    </c:title>
    <c:autoTitleDeleted val="0"/>
    <c:plotArea>
      <c:layout/>
      <c:barChart>
        <c:barDir val="col"/>
        <c:grouping val="clustered"/>
        <c:varyColors val="0"/>
        <c:ser>
          <c:idx val="0"/>
          <c:order val="0"/>
          <c:tx>
            <c:strRef>
              <c:f>Sheet1!$B$1</c:f>
              <c:strCache>
                <c:ptCount val="1"/>
                <c:pt idx="0">
                  <c:v>Pixel share (%)</c:v>
                </c:pt>
              </c:strCache>
            </c:strRef>
          </c:tx>
          <c:spPr>
            <a:solidFill>
              <a:srgbClr val="7C8AA5"/>
            </a:solidFill>
            <a:effectLst/>
          </c:spPr>
          <c:invertIfNegative val="0"/>
          <c:dLbls>
            <c:numFmt formatCode="#,##0" sourceLinked="0"/>
            <c:spPr>
              <a:noFill/>
              <a:ln>
                <a:noFill/>
              </a:ln>
              <a:effectLst/>
            </c:spPr>
            <c:txPr>
              <a:bodyPr/>
              <a:lstStyle/>
              <a:p>
                <a:pPr>
                  <a:defRPr sz="1000" b="0" i="0" u="none" strike="noStrike">
                    <a:solidFill>
                      <a:srgbClr val="2A334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c:v>
                </c:pt>
                <c:pt idx="1">
                  <c:v>32</c:v>
                </c:pt>
                <c:pt idx="2">
                  <c:v>64</c:v>
                </c:pt>
                <c:pt idx="3">
                  <c:v>96</c:v>
                </c:pt>
                <c:pt idx="4">
                  <c:v>128</c:v>
                </c:pt>
                <c:pt idx="5">
                  <c:v>160</c:v>
                </c:pt>
                <c:pt idx="6">
                  <c:v>192</c:v>
                </c:pt>
                <c:pt idx="7">
                  <c:v>224</c:v>
                </c:pt>
              </c:strCache>
            </c:strRef>
          </c:cat>
          <c:val>
            <c:numRef>
              <c:f>Sheet1!$B$2:$B$9</c:f>
              <c:numCache>
                <c:formatCode>General</c:formatCode>
                <c:ptCount val="8"/>
                <c:pt idx="0">
                  <c:v>0</c:v>
                </c:pt>
                <c:pt idx="1">
                  <c:v>8</c:v>
                </c:pt>
                <c:pt idx="2">
                  <c:v>22</c:v>
                </c:pt>
                <c:pt idx="3">
                  <c:v>34</c:v>
                </c:pt>
                <c:pt idx="4">
                  <c:v>26</c:v>
                </c:pt>
                <c:pt idx="5">
                  <c:v>10</c:v>
                </c:pt>
                <c:pt idx="6">
                  <c:v>0</c:v>
                </c:pt>
                <c:pt idx="7">
                  <c:v>0</c:v>
                </c:pt>
              </c:numCache>
            </c:numRef>
          </c:val>
          <c:extLst>
            <c:ext xmlns:c16="http://schemas.microsoft.com/office/drawing/2014/chart" uri="{C3380CC4-5D6E-409C-BE32-E72D297353CC}">
              <c16:uniqueId val="{00000000-2405-B043-87E3-6A1700F4288D}"/>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title>
          <c:tx>
            <c:rich>
              <a:bodyPr/>
              <a:lstStyle/>
              <a:p>
                <a:pPr>
                  <a:defRPr sz="1000" b="0" i="0" u="none" strike="noStrike">
                    <a:solidFill>
                      <a:srgbClr val="2A3347"/>
                    </a:solidFill>
                    <a:latin typeface="Arial"/>
                  </a:defRPr>
                </a:pPr>
                <a:r>
                  <a:rPr sz="1000" b="0" i="0" u="none" strike="noStrike">
                    <a:solidFill>
                      <a:srgbClr val="2A3347"/>
                    </a:solidFill>
                    <a:latin typeface="Arial"/>
                  </a:rPr>
                  <a:t>Intensity level (bin start)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D5DAE3"/>
              </a:solidFill>
              <a:prstDash val="solid"/>
              <a:round/>
            </a:ln>
          </c:spPr>
        </c:majorGridlines>
        <c:title>
          <c:tx>
            <c:rich>
              <a:bodyPr/>
              <a:lstStyle/>
              <a:p>
                <a:pPr>
                  <a:defRPr sz="1000" b="0" i="0" u="none" strike="noStrike">
                    <a:solidFill>
                      <a:srgbClr val="2A3347"/>
                    </a:solidFill>
                    <a:latin typeface="Arial"/>
                  </a:defRPr>
                </a:pPr>
                <a:r>
                  <a:rPr sz="1000" b="0" i="0" u="none" strike="noStrike">
                    <a:solidFill>
                      <a:srgbClr val="2A3347"/>
                    </a:solidFill>
                    <a:latin typeface="Arial"/>
                  </a:rPr>
                  <a:t>Pixel share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1B26"/>
                </a:solidFill>
                <a:latin typeface="+mn-lt"/>
              </a:defRPr>
            </a:pPr>
            <a:r>
              <a:rPr sz="1400" b="0" i="0" u="none" strike="noStrike">
                <a:solidFill>
                  <a:srgbClr val="161B26"/>
                </a:solidFill>
                <a:latin typeface="+mn-lt"/>
              </a:rPr>
              <a:t>Before: 40 to 160 only</a:t>
            </a:r>
          </a:p>
        </c:rich>
      </c:tx>
      <c:overlay val="0"/>
    </c:title>
    <c:autoTitleDeleted val="0"/>
    <c:plotArea>
      <c:layout/>
      <c:barChart>
        <c:barDir val="col"/>
        <c:grouping val="clustered"/>
        <c:varyColors val="0"/>
        <c:ser>
          <c:idx val="0"/>
          <c:order val="0"/>
          <c:tx>
            <c:strRef>
              <c:f>Sheet1!$B$1</c:f>
              <c:strCache>
                <c:ptCount val="1"/>
                <c:pt idx="0">
                  <c:v>Pixel share (%)</c:v>
                </c:pt>
              </c:strCache>
            </c:strRef>
          </c:tx>
          <c:spPr>
            <a:solidFill>
              <a:srgbClr val="7C8AA5"/>
            </a:solidFill>
            <a:effectLst/>
          </c:spPr>
          <c:invertIfNegative val="0"/>
          <c:dLbls>
            <c:numFmt formatCode="#,##0" sourceLinked="0"/>
            <c:spPr>
              <a:noFill/>
              <a:ln>
                <a:noFill/>
              </a:ln>
              <a:effectLst/>
            </c:spPr>
            <c:txPr>
              <a:bodyPr/>
              <a:lstStyle/>
              <a:p>
                <a:pPr>
                  <a:defRPr sz="1000" b="0" i="0" u="none" strike="noStrike">
                    <a:solidFill>
                      <a:srgbClr val="2A334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c:v>
                </c:pt>
                <c:pt idx="1">
                  <c:v>32</c:v>
                </c:pt>
                <c:pt idx="2">
                  <c:v>64</c:v>
                </c:pt>
                <c:pt idx="3">
                  <c:v>96</c:v>
                </c:pt>
                <c:pt idx="4">
                  <c:v>128</c:v>
                </c:pt>
                <c:pt idx="5">
                  <c:v>160</c:v>
                </c:pt>
                <c:pt idx="6">
                  <c:v>192</c:v>
                </c:pt>
                <c:pt idx="7">
                  <c:v>224</c:v>
                </c:pt>
              </c:strCache>
            </c:strRef>
          </c:cat>
          <c:val>
            <c:numRef>
              <c:f>Sheet1!$B$2:$B$9</c:f>
              <c:numCache>
                <c:formatCode>General</c:formatCode>
                <c:ptCount val="8"/>
                <c:pt idx="0">
                  <c:v>0</c:v>
                </c:pt>
                <c:pt idx="1">
                  <c:v>8</c:v>
                </c:pt>
                <c:pt idx="2">
                  <c:v>22</c:v>
                </c:pt>
                <c:pt idx="3">
                  <c:v>34</c:v>
                </c:pt>
                <c:pt idx="4">
                  <c:v>26</c:v>
                </c:pt>
                <c:pt idx="5">
                  <c:v>10</c:v>
                </c:pt>
                <c:pt idx="6">
                  <c:v>0</c:v>
                </c:pt>
                <c:pt idx="7">
                  <c:v>0</c:v>
                </c:pt>
              </c:numCache>
            </c:numRef>
          </c:val>
          <c:extLst>
            <c:ext xmlns:c16="http://schemas.microsoft.com/office/drawing/2014/chart" uri="{C3380CC4-5D6E-409C-BE32-E72D297353CC}">
              <c16:uniqueId val="{00000000-82D2-3445-B9EB-59C94AE08928}"/>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title>
          <c:tx>
            <c:rich>
              <a:bodyPr/>
              <a:lstStyle/>
              <a:p>
                <a:pPr>
                  <a:defRPr sz="1000" b="0" i="0" u="none" strike="noStrike">
                    <a:solidFill>
                      <a:srgbClr val="2A3347"/>
                    </a:solidFill>
                    <a:latin typeface="Arial"/>
                  </a:defRPr>
                </a:pPr>
                <a:r>
                  <a:rPr sz="1000" b="0" i="0" u="none" strike="noStrike">
                    <a:solidFill>
                      <a:srgbClr val="2A3347"/>
                    </a:solidFill>
                    <a:latin typeface="Arial"/>
                  </a:rPr>
                  <a:t>Intensity level (bin start)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D5DA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1B26"/>
                </a:solidFill>
                <a:latin typeface="+mn-lt"/>
              </a:defRPr>
            </a:pPr>
            <a:r>
              <a:rPr sz="1400" b="0" i="0" u="none" strike="noStrike">
                <a:solidFill>
                  <a:srgbClr val="161B26"/>
                </a:solidFill>
                <a:latin typeface="+mn-lt"/>
              </a:rPr>
              <a:t>After: 0 to 255</a:t>
            </a:r>
          </a:p>
        </c:rich>
      </c:tx>
      <c:overlay val="0"/>
    </c:title>
    <c:autoTitleDeleted val="0"/>
    <c:plotArea>
      <c:layout/>
      <c:barChart>
        <c:barDir val="col"/>
        <c:grouping val="clustered"/>
        <c:varyColors val="0"/>
        <c:ser>
          <c:idx val="0"/>
          <c:order val="0"/>
          <c:tx>
            <c:strRef>
              <c:f>Sheet1!$B$1</c:f>
              <c:strCache>
                <c:ptCount val="1"/>
                <c:pt idx="0">
                  <c:v>Pixel share (%)</c:v>
                </c:pt>
              </c:strCache>
            </c:strRef>
          </c:tx>
          <c:spPr>
            <a:solidFill>
              <a:srgbClr val="F2A516"/>
            </a:solidFill>
            <a:effectLst/>
          </c:spPr>
          <c:invertIfNegative val="0"/>
          <c:dLbls>
            <c:numFmt formatCode="#,##0" sourceLinked="0"/>
            <c:spPr>
              <a:noFill/>
              <a:ln>
                <a:noFill/>
              </a:ln>
              <a:effectLst/>
            </c:spPr>
            <c:txPr>
              <a:bodyPr/>
              <a:lstStyle/>
              <a:p>
                <a:pPr>
                  <a:defRPr sz="1000" b="0" i="0" u="none" strike="noStrike">
                    <a:solidFill>
                      <a:srgbClr val="2A334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c:v>
                </c:pt>
                <c:pt idx="1">
                  <c:v>32</c:v>
                </c:pt>
                <c:pt idx="2">
                  <c:v>64</c:v>
                </c:pt>
                <c:pt idx="3">
                  <c:v>96</c:v>
                </c:pt>
                <c:pt idx="4">
                  <c:v>128</c:v>
                </c:pt>
                <c:pt idx="5">
                  <c:v>160</c:v>
                </c:pt>
                <c:pt idx="6">
                  <c:v>192</c:v>
                </c:pt>
                <c:pt idx="7">
                  <c:v>224</c:v>
                </c:pt>
              </c:strCache>
            </c:strRef>
          </c:cat>
          <c:val>
            <c:numRef>
              <c:f>Sheet1!$B$2:$B$9</c:f>
              <c:numCache>
                <c:formatCode>General</c:formatCode>
                <c:ptCount val="8"/>
                <c:pt idx="0">
                  <c:v>3</c:v>
                </c:pt>
                <c:pt idx="1">
                  <c:v>8</c:v>
                </c:pt>
                <c:pt idx="2">
                  <c:v>14</c:v>
                </c:pt>
                <c:pt idx="3">
                  <c:v>22</c:v>
                </c:pt>
                <c:pt idx="4">
                  <c:v>24</c:v>
                </c:pt>
                <c:pt idx="5">
                  <c:v>17</c:v>
                </c:pt>
                <c:pt idx="6">
                  <c:v>9</c:v>
                </c:pt>
                <c:pt idx="7">
                  <c:v>3</c:v>
                </c:pt>
              </c:numCache>
            </c:numRef>
          </c:val>
          <c:extLst>
            <c:ext xmlns:c16="http://schemas.microsoft.com/office/drawing/2014/chart" uri="{C3380CC4-5D6E-409C-BE32-E72D297353CC}">
              <c16:uniqueId val="{00000000-7994-D64D-9B90-3D3E2D5E1F79}"/>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title>
          <c:tx>
            <c:rich>
              <a:bodyPr/>
              <a:lstStyle/>
              <a:p>
                <a:pPr>
                  <a:defRPr sz="1000" b="0" i="0" u="none" strike="noStrike">
                    <a:solidFill>
                      <a:srgbClr val="2A3347"/>
                    </a:solidFill>
                    <a:latin typeface="Arial"/>
                  </a:defRPr>
                </a:pPr>
                <a:r>
                  <a:rPr sz="1000" b="0" i="0" u="none" strike="noStrike">
                    <a:solidFill>
                      <a:srgbClr val="2A3347"/>
                    </a:solidFill>
                    <a:latin typeface="Arial"/>
                  </a:rPr>
                  <a:t>Intensity level (bin start)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D5DA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1B26"/>
                </a:solidFill>
                <a:latin typeface="+mn-lt"/>
              </a:defRPr>
            </a:pPr>
            <a:r>
              <a:rPr sz="1400" b="0" i="0" u="none" strike="noStrike">
                <a:solidFill>
                  <a:srgbClr val="161B26"/>
                </a:solidFill>
                <a:latin typeface="+mn-lt"/>
              </a:rPr>
              <a:t>Transformation function</a:t>
            </a:r>
          </a:p>
        </c:rich>
      </c:tx>
      <c:overlay val="0"/>
    </c:title>
    <c:autoTitleDeleted val="0"/>
    <c:plotArea>
      <c:layout/>
      <c:scatterChart>
        <c:scatterStyle val="lineMarker"/>
        <c:varyColors val="0"/>
        <c:ser>
          <c:idx val="0"/>
          <c:order val="0"/>
          <c:tx>
            <c:strRef>
              <c:f>Sheet1!$B$1</c:f>
              <c:strCache>
                <c:ptCount val="1"/>
                <c:pt idx="0">
                  <c:v>Contrast stretch</c:v>
                </c:pt>
              </c:strCache>
            </c:strRef>
          </c:tx>
          <c:spPr>
            <a:ln w="38100" cap="flat">
              <a:solidFill>
                <a:srgbClr val="F2A516"/>
              </a:solidFill>
              <a:prstDash val="solid"/>
              <a:round/>
            </a:ln>
            <a:effectLst/>
          </c:spPr>
          <c:marker>
            <c:symbol val="circle"/>
            <c:size val="8"/>
            <c:spPr>
              <a:solidFill>
                <a:srgbClr val="F2A516"/>
              </a:solidFill>
              <a:ln w="9525" cap="flat">
                <a:solidFill>
                  <a:srgbClr val="F2A516"/>
                </a:solidFill>
                <a:prstDash val="solid"/>
                <a:round/>
              </a:ln>
              <a:effectLst/>
            </c:spPr>
          </c:marker>
          <c:xVal>
            <c:numRef>
              <c:f>Sheet1!$A$2:$A$6</c:f>
              <c:numCache>
                <c:formatCode>General</c:formatCode>
                <c:ptCount val="5"/>
                <c:pt idx="0">
                  <c:v>0</c:v>
                </c:pt>
                <c:pt idx="1">
                  <c:v>40</c:v>
                </c:pt>
                <c:pt idx="2">
                  <c:v>100</c:v>
                </c:pt>
                <c:pt idx="3">
                  <c:v>160</c:v>
                </c:pt>
                <c:pt idx="4">
                  <c:v>255</c:v>
                </c:pt>
              </c:numCache>
            </c:numRef>
          </c:xVal>
          <c:yVal>
            <c:numRef>
              <c:f>Sheet1!$B$2:$B$6</c:f>
              <c:numCache>
                <c:formatCode>General</c:formatCode>
                <c:ptCount val="5"/>
                <c:pt idx="0">
                  <c:v>0</c:v>
                </c:pt>
                <c:pt idx="1">
                  <c:v>0</c:v>
                </c:pt>
                <c:pt idx="2">
                  <c:v>127.5</c:v>
                </c:pt>
                <c:pt idx="3">
                  <c:v>255</c:v>
                </c:pt>
                <c:pt idx="4">
                  <c:v>255</c:v>
                </c:pt>
              </c:numCache>
            </c:numRef>
          </c:yVal>
          <c:smooth val="0"/>
          <c:extLst>
            <c:ext xmlns:c16="http://schemas.microsoft.com/office/drawing/2014/chart" uri="{C3380CC4-5D6E-409C-BE32-E72D297353CC}">
              <c16:uniqueId val="{00000000-B1B9-1849-B723-257CC66106A7}"/>
            </c:ext>
          </c:extLst>
        </c:ser>
        <c:ser>
          <c:idx val="1"/>
          <c:order val="1"/>
          <c:tx>
            <c:strRef>
              <c:f>Sheet1!$C$1</c:f>
              <c:strCache>
                <c:ptCount val="1"/>
                <c:pt idx="0">
                  <c:v>No change</c:v>
                </c:pt>
              </c:strCache>
            </c:strRef>
          </c:tx>
          <c:spPr>
            <a:ln w="38100" cap="flat">
              <a:solidFill>
                <a:srgbClr val="7C8AA5"/>
              </a:solidFill>
              <a:prstDash val="solid"/>
              <a:round/>
            </a:ln>
            <a:effectLst/>
          </c:spPr>
          <c:marker>
            <c:symbol val="circle"/>
            <c:size val="8"/>
            <c:spPr>
              <a:solidFill>
                <a:srgbClr val="7C8AA5"/>
              </a:solidFill>
              <a:ln w="9525" cap="flat">
                <a:solidFill>
                  <a:srgbClr val="7C8AA5"/>
                </a:solidFill>
                <a:prstDash val="solid"/>
                <a:round/>
              </a:ln>
              <a:effectLst/>
            </c:spPr>
          </c:marker>
          <c:xVal>
            <c:numRef>
              <c:f>Sheet1!$A$2:$A$6</c:f>
              <c:numCache>
                <c:formatCode>General</c:formatCode>
                <c:ptCount val="5"/>
                <c:pt idx="0">
                  <c:v>0</c:v>
                </c:pt>
                <c:pt idx="1">
                  <c:v>40</c:v>
                </c:pt>
                <c:pt idx="2">
                  <c:v>100</c:v>
                </c:pt>
                <c:pt idx="3">
                  <c:v>160</c:v>
                </c:pt>
                <c:pt idx="4">
                  <c:v>255</c:v>
                </c:pt>
              </c:numCache>
            </c:numRef>
          </c:xVal>
          <c:yVal>
            <c:numRef>
              <c:f>Sheet1!$C$2:$C$6</c:f>
              <c:numCache>
                <c:formatCode>General</c:formatCode>
                <c:ptCount val="5"/>
                <c:pt idx="0">
                  <c:v>0</c:v>
                </c:pt>
                <c:pt idx="1">
                  <c:v>40</c:v>
                </c:pt>
                <c:pt idx="2">
                  <c:v>100</c:v>
                </c:pt>
                <c:pt idx="3">
                  <c:v>160</c:v>
                </c:pt>
                <c:pt idx="4">
                  <c:v>255</c:v>
                </c:pt>
              </c:numCache>
            </c:numRef>
          </c:yVal>
          <c:smooth val="0"/>
          <c:extLst>
            <c:ext xmlns:c16="http://schemas.microsoft.com/office/drawing/2014/chart" uri="{C3380CC4-5D6E-409C-BE32-E72D297353CC}">
              <c16:uniqueId val="{00000001-B1B9-1849-B723-257CC66106A7}"/>
            </c:ext>
          </c:extLst>
        </c:ser>
        <c:dLbls>
          <c:showLegendKey val="0"/>
          <c:showVal val="0"/>
          <c:showCatName val="0"/>
          <c:showSerName val="0"/>
          <c:showPercent val="0"/>
          <c:showBubbleSize val="0"/>
        </c:dLbls>
        <c:axId val="2094734554"/>
        <c:axId val="2094734552"/>
      </c:scatterChart>
      <c:valAx>
        <c:axId val="2094734554"/>
        <c:scaling>
          <c:orientation val="minMax"/>
          <c:max val="255"/>
          <c:min val="0"/>
        </c:scaling>
        <c:delete val="0"/>
        <c:axPos val="b"/>
        <c:majorGridlines>
          <c:spPr>
            <a:ln w="6350" cap="flat">
              <a:solidFill>
                <a:srgbClr val="D5DAE3"/>
              </a:solidFill>
              <a:prstDash val="solid"/>
              <a:round/>
            </a:ln>
          </c:spPr>
        </c:majorGridlines>
        <c:title>
          <c:tx>
            <c:rich>
              <a:bodyPr/>
              <a:lstStyle/>
              <a:p>
                <a:pPr>
                  <a:defRPr sz="1000" b="0" i="0" u="none" strike="noStrike">
                    <a:solidFill>
                      <a:srgbClr val="2A3347"/>
                    </a:solidFill>
                    <a:latin typeface="Arial"/>
                  </a:defRPr>
                </a:pPr>
                <a:r>
                  <a:rPr sz="1000" b="0" i="0" u="none" strike="noStrike">
                    <a:solidFill>
                      <a:srgbClr val="2A3347"/>
                    </a:solidFill>
                    <a:latin typeface="Arial"/>
                  </a:rPr>
                  <a:t>Input intensity r</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2"/>
        <c:crosses val="autoZero"/>
        <c:crossBetween val="midCat"/>
        <c:majorUnit val="51"/>
      </c:valAx>
      <c:valAx>
        <c:axId val="2094734552"/>
        <c:scaling>
          <c:orientation val="minMax"/>
          <c:max val="255"/>
          <c:min val="0"/>
        </c:scaling>
        <c:delete val="0"/>
        <c:axPos val="l"/>
        <c:majorGridlines>
          <c:spPr>
            <a:ln w="6350" cap="flat">
              <a:solidFill>
                <a:srgbClr val="D5DAE3"/>
              </a:solidFill>
              <a:prstDash val="solid"/>
              <a:round/>
            </a:ln>
          </c:spPr>
        </c:majorGridlines>
        <c:title>
          <c:tx>
            <c:rich>
              <a:bodyPr/>
              <a:lstStyle/>
              <a:p>
                <a:pPr>
                  <a:defRPr sz="1000" b="0" i="0" u="none" strike="noStrike">
                    <a:solidFill>
                      <a:srgbClr val="2A3347"/>
                    </a:solidFill>
                    <a:latin typeface="Arial"/>
                  </a:defRPr>
                </a:pPr>
                <a:r>
                  <a:rPr sz="1000" b="0" i="0" u="none" strike="noStrike">
                    <a:solidFill>
                      <a:srgbClr val="2A3347"/>
                    </a:solidFill>
                    <a:latin typeface="Arial"/>
                  </a:rPr>
                  <a:t>Output intensity s</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2A3347"/>
                </a:solidFill>
                <a:latin typeface="+mn-lt"/>
              </a:defRPr>
            </a:pPr>
            <a:endParaRPr lang="en-US"/>
          </a:p>
        </c:txPr>
        <c:crossAx val="2094734554"/>
        <c:crosses val="autoZero"/>
        <c:crossBetween val="midCat"/>
        <c:majorUnit val="51"/>
      </c:valAx>
      <c:spPr>
        <a:noFill/>
        <a:ln>
          <a:noFill/>
        </a:ln>
        <a:effectLst/>
      </c:spPr>
    </c:plotArea>
    <c:legend>
      <c:legendPos val="b"/>
      <c:overlay val="0"/>
      <c:txPr>
        <a:bodyPr/>
        <a:lstStyle/>
        <a:p>
          <a:pPr>
            <a:defRPr sz="1100">
              <a:solidFill>
                <a:srgbClr val="2A334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AFF5D2B8-44A2-2845-A92F-1957D585C060}" type="datetimeFigureOut">
              <a:rPr lang="en-US" smtClean="0"/>
              <a:t>10/26/2026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17C59E7-BA46-5148-BFD8-8B0925068187}" type="slidenum">
              <a:rPr lang="en-US" smtClean="0"/>
              <a:t>‹#›</a:t>
            </a:fld>
            <a:endParaRPr lang="en-US"/>
          </a:p>
        </p:txBody>
      </p:sp>
    </p:spTree>
    <p:extLst>
      <p:ext uri="{BB962C8B-B14F-4D97-AF65-F5344CB8AC3E}">
        <p14:creationId xmlns:p14="http://schemas.microsoft.com/office/powerpoint/2010/main" val="542183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contrast stretching is a point operation that spreads a narrow band of gray levels over the full display range. The two rows of gray patches preview the idea: the top row spans 40 to 160 and looks flat; the bottom row spans 0 to 255 and is much easier to tell apart. Two problems are covered: a scenario explanation and a numerical calculation.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washed-out image has a narrow histogram: all pixels sit in a small band, here about 40 to 160. Neighbouring gray levels are so close that the eye cannot separate edges and texture. Large parts of the display range (0 to 40 and 160 to 255) are never used. The histogram is illustrative.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transformation is a straight line from [r_min, r_max] to [0, L-1]. The slope is 255 divided by the input range, so it is greater than 1 whenever the image does not already use the full scale. Three steps: find the limits, apply the linear map, round and clip to valid integers.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answer: contrast stretching redistributes the intensity range by a linear map. The shape of the histogram is preserved but it is stretched horizontally to cover 0 to 255. Both histograms are illustrative and have equal total pixel share.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Slope = 255 / 120 = 2.125. Example: pixels 100 and 105 map to 127.5 and 138.125, so their gap grows from 5 to about 10.6 levels. The occupied share of the scale rises from 120/255 (about 47 percent) to 100 percent.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r_min = 40, r_max = 160, target 0 to 255, input 100. s = (100 - 40) / (160 - 40) x 255 = 60/120 x 255 = 127.5. For an 8-bit image the value is rounded to 128 (truncation would give 127). The pixel sits exactly halfway in the input range, so it lands at the middle of the output range.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curve is the contrast-stretch transfer function: flat at 0 below 40, rising linearly to 255 at 160, flat afterwards. The gray diagonal is the identity mapping (no change). The steeper amber segment is where contrast is gained. Pixel 100 lies at the midpoint and maps to 127.5.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stretching is attractive because it is cheap and reversible in principle. Its main weakness is sensitivity to outliers: a single black or white pixel sets r_min or r_max and removes the benefit. Clipping at the 1st and 99th percentiles before stretching is the usual fix. Noise is stretched along with the signal.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linear map, the effect on the histogram, and the numerical result 127.5 which rounds to 128.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11480"/>
            <a:ext cx="822960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457200" y="1965960"/>
            <a:ext cx="8229600" cy="411480"/>
          </a:xfrm>
          <a:prstGeom prst="rect">
            <a:avLst/>
          </a:prstGeom>
          <a:noFill/>
          <a:ln/>
        </p:spPr>
        <p:txBody>
          <a:bodyPr wrap="square" rtlCol="0"/>
          <a:lstStyle>
            <a:lvl1pPr marL="0" indent="0">
              <a:buNone/>
              <a:defRPr lang="en-US" sz="1800" b="1"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Contrast Stretching  |  Keerthivasan S  |  192312106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Contrast Stretching  |  Keerthivasan S  |  192312106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3" Type="http://schemas.openxmlformats.org/officeDocument/2006/relationships/chart" Target="../charts/chart2.xml"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chart" Target="../charts/char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3" Type="http://schemas.openxmlformats.org/officeDocument/2006/relationships/chart" Target="../charts/chart4.xml" /><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11480"/>
            <a:ext cx="8229600" cy="1463040"/>
          </a:xfrm>
          <a:prstGeom prst="rect">
            <a:avLst/>
          </a:prstGeom>
          <a:noFill/>
          <a:ln/>
        </p:spPr>
        <p:txBody>
          <a:bodyPr wrap="square" lIns="0" tIns="0" rIns="0" bIns="0" rtlCol="0" anchor="t"/>
          <a:lstStyle/>
          <a:p>
            <a:pPr marL="0" indent="0" algn="l">
              <a:buNone/>
            </a:pPr>
            <a:r>
              <a:rPr lang="en-US" sz="3600" b="1" dirty="0">
                <a:solidFill>
                  <a:schemeClr val="bg1"/>
                </a:solidFill>
              </a:rPr>
              <a:t>Contrast Enhancement Using Contrast Stretching</a:t>
            </a:r>
            <a:endParaRPr lang="en-US" sz="3600" dirty="0"/>
          </a:p>
        </p:txBody>
      </p:sp>
      <p:sp>
        <p:nvSpPr>
          <p:cNvPr id="3" name="Text 0"/>
          <p:cNvSpPr>
            <a:spLocks noGrp="1"/>
          </p:cNvSpPr>
          <p:nvPr>
            <p:ph type="body" idx="101" hasCustomPrompt="1"/>
          </p:nvPr>
        </p:nvSpPr>
        <p:spPr>
          <a:xfrm>
            <a:off x="457200" y="1965960"/>
            <a:ext cx="8229600" cy="411480"/>
          </a:xfrm>
          <a:prstGeom prst="rect">
            <a:avLst/>
          </a:prstGeom>
          <a:noFill/>
          <a:ln/>
        </p:spPr>
        <p:txBody>
          <a:bodyPr wrap="square" lIns="0" tIns="0" rIns="0" bIns="0" rtlCol="0" anchor="t"/>
          <a:lstStyle/>
          <a:p>
            <a:pPr marL="0" indent="0">
              <a:buNone/>
            </a:pPr>
            <a:r>
              <a:rPr lang="en-US" sz="1800" b="1" dirty="0">
                <a:solidFill>
                  <a:schemeClr val="accent1"/>
                </a:solidFill>
              </a:rPr>
              <a:t>Keerthivasan S   |   Reg No: 192312106</a:t>
            </a:r>
            <a:endParaRPr lang="en-US" sz="1800" dirty="0"/>
          </a:p>
        </p:txBody>
      </p:sp>
      <p:sp>
        <p:nvSpPr>
          <p:cNvPr id="4" name="Row label 1"/>
          <p:cNvSpPr txBox="1"/>
          <p:nvPr/>
        </p:nvSpPr>
        <p:spPr>
          <a:xfrm>
            <a:off x="457200" y="2606040"/>
            <a:ext cx="8229600" cy="274320"/>
          </a:xfrm>
          <a:prstGeom prst="rect">
            <a:avLst/>
          </a:prstGeom>
          <a:noFill/>
          <a:ln/>
        </p:spPr>
        <p:txBody>
          <a:bodyPr wrap="square" lIns="0" tIns="0" rIns="0" bIns="0" rtlCol="0" anchor="t"/>
          <a:lstStyle/>
          <a:p>
            <a:pPr marL="0" indent="0">
              <a:buNone/>
            </a:pPr>
            <a:r>
              <a:rPr lang="en-US" sz="1200" dirty="0">
                <a:solidFill>
                  <a:schemeClr val="accent6"/>
                </a:solidFill>
              </a:rPr>
              <a:t>Input: washed-out, intensities 40 to 160</a:t>
            </a:r>
            <a:endParaRPr lang="en-US" sz="1200" dirty="0"/>
          </a:p>
        </p:txBody>
      </p:sp>
      <p:sp>
        <p:nvSpPr>
          <p:cNvPr id="5" name="Patch 1-1"/>
          <p:cNvSpPr/>
          <p:nvPr/>
        </p:nvSpPr>
        <p:spPr>
          <a:xfrm>
            <a:off x="457200" y="2898648"/>
            <a:ext cx="948690" cy="502920"/>
          </a:xfrm>
          <a:prstGeom prst="rect">
            <a:avLst/>
          </a:prstGeom>
          <a:solidFill>
            <a:srgbClr val="282828"/>
          </a:solidFill>
          <a:ln w="9525">
            <a:solidFill>
              <a:srgbClr val="7C8AA5"/>
            </a:solidFill>
          </a:ln>
        </p:spPr>
        <p:txBody>
          <a:bodyPr wrap="square" lIns="0" tIns="0" rIns="0" bIns="0" rtlCol="0" anchor="ctr"/>
          <a:lstStyle/>
          <a:p>
            <a:pPr marL="0" indent="0" algn="ctr">
              <a:buNone/>
            </a:pPr>
            <a:r>
              <a:rPr lang="en-US" sz="1200" b="1" dirty="0">
                <a:solidFill>
                  <a:srgbClr val="FFFFFF"/>
                </a:solidFill>
              </a:rPr>
              <a:t>40</a:t>
            </a:r>
            <a:endParaRPr lang="en-US" sz="1200" dirty="0"/>
          </a:p>
        </p:txBody>
      </p:sp>
      <p:sp>
        <p:nvSpPr>
          <p:cNvPr id="6" name="Patch 1-2"/>
          <p:cNvSpPr/>
          <p:nvPr/>
        </p:nvSpPr>
        <p:spPr>
          <a:xfrm>
            <a:off x="1497330" y="2898648"/>
            <a:ext cx="948690" cy="502920"/>
          </a:xfrm>
          <a:prstGeom prst="rect">
            <a:avLst/>
          </a:prstGeom>
          <a:solidFill>
            <a:srgbClr val="393939"/>
          </a:solidFill>
          <a:ln w="9525">
            <a:solidFill>
              <a:srgbClr val="7C8AA5"/>
            </a:solidFill>
          </a:ln>
        </p:spPr>
        <p:txBody>
          <a:bodyPr wrap="square" lIns="0" tIns="0" rIns="0" bIns="0" rtlCol="0" anchor="ctr"/>
          <a:lstStyle/>
          <a:p>
            <a:pPr marL="0" indent="0" algn="ctr">
              <a:buNone/>
            </a:pPr>
            <a:r>
              <a:rPr lang="en-US" sz="1200" b="1" dirty="0">
                <a:solidFill>
                  <a:srgbClr val="FFFFFF"/>
                </a:solidFill>
              </a:rPr>
              <a:t>57</a:t>
            </a:r>
            <a:endParaRPr lang="en-US" sz="1200" dirty="0"/>
          </a:p>
        </p:txBody>
      </p:sp>
      <p:sp>
        <p:nvSpPr>
          <p:cNvPr id="7" name="Patch 1-3"/>
          <p:cNvSpPr/>
          <p:nvPr/>
        </p:nvSpPr>
        <p:spPr>
          <a:xfrm>
            <a:off x="2537460" y="2898648"/>
            <a:ext cx="948690" cy="502920"/>
          </a:xfrm>
          <a:prstGeom prst="rect">
            <a:avLst/>
          </a:prstGeom>
          <a:solidFill>
            <a:srgbClr val="4A4A4A"/>
          </a:solidFill>
          <a:ln w="9525">
            <a:solidFill>
              <a:srgbClr val="7C8AA5"/>
            </a:solidFill>
          </a:ln>
        </p:spPr>
        <p:txBody>
          <a:bodyPr wrap="square" lIns="0" tIns="0" rIns="0" bIns="0" rtlCol="0" anchor="ctr"/>
          <a:lstStyle/>
          <a:p>
            <a:pPr marL="0" indent="0" algn="ctr">
              <a:buNone/>
            </a:pPr>
            <a:r>
              <a:rPr lang="en-US" sz="1200" b="1" dirty="0">
                <a:solidFill>
                  <a:srgbClr val="FFFFFF"/>
                </a:solidFill>
              </a:rPr>
              <a:t>74</a:t>
            </a:r>
            <a:endParaRPr lang="en-US" sz="1200" dirty="0"/>
          </a:p>
        </p:txBody>
      </p:sp>
      <p:sp>
        <p:nvSpPr>
          <p:cNvPr id="8" name="Patch 1-4"/>
          <p:cNvSpPr/>
          <p:nvPr/>
        </p:nvSpPr>
        <p:spPr>
          <a:xfrm>
            <a:off x="3577590" y="2898648"/>
            <a:ext cx="948690" cy="502920"/>
          </a:xfrm>
          <a:prstGeom prst="rect">
            <a:avLst/>
          </a:prstGeom>
          <a:solidFill>
            <a:srgbClr val="5B5B5B"/>
          </a:solidFill>
          <a:ln w="9525">
            <a:solidFill>
              <a:srgbClr val="7C8AA5"/>
            </a:solidFill>
          </a:ln>
        </p:spPr>
        <p:txBody>
          <a:bodyPr wrap="square" lIns="0" tIns="0" rIns="0" bIns="0" rtlCol="0" anchor="ctr"/>
          <a:lstStyle/>
          <a:p>
            <a:pPr marL="0" indent="0" algn="ctr">
              <a:buNone/>
            </a:pPr>
            <a:r>
              <a:rPr lang="en-US" sz="1200" b="1" dirty="0">
                <a:solidFill>
                  <a:srgbClr val="FFFFFF"/>
                </a:solidFill>
              </a:rPr>
              <a:t>91</a:t>
            </a:r>
            <a:endParaRPr lang="en-US" sz="1200" dirty="0"/>
          </a:p>
        </p:txBody>
      </p:sp>
      <p:sp>
        <p:nvSpPr>
          <p:cNvPr id="9" name="Patch 1-5"/>
          <p:cNvSpPr/>
          <p:nvPr/>
        </p:nvSpPr>
        <p:spPr>
          <a:xfrm>
            <a:off x="4617720" y="2898648"/>
            <a:ext cx="948690" cy="502920"/>
          </a:xfrm>
          <a:prstGeom prst="rect">
            <a:avLst/>
          </a:prstGeom>
          <a:solidFill>
            <a:srgbClr val="6D6D6D"/>
          </a:solidFill>
          <a:ln w="9525">
            <a:solidFill>
              <a:srgbClr val="7C8AA5"/>
            </a:solidFill>
          </a:ln>
        </p:spPr>
        <p:txBody>
          <a:bodyPr wrap="square" lIns="0" tIns="0" rIns="0" bIns="0" rtlCol="0" anchor="ctr"/>
          <a:lstStyle/>
          <a:p>
            <a:pPr marL="0" indent="0" algn="ctr">
              <a:buNone/>
            </a:pPr>
            <a:r>
              <a:rPr lang="en-US" sz="1200" b="1" dirty="0">
                <a:solidFill>
                  <a:srgbClr val="FFFFFF"/>
                </a:solidFill>
              </a:rPr>
              <a:t>109</a:t>
            </a:r>
            <a:endParaRPr lang="en-US" sz="1200" dirty="0"/>
          </a:p>
        </p:txBody>
      </p:sp>
      <p:sp>
        <p:nvSpPr>
          <p:cNvPr id="10" name="Patch 1-6"/>
          <p:cNvSpPr/>
          <p:nvPr/>
        </p:nvSpPr>
        <p:spPr>
          <a:xfrm>
            <a:off x="5657850" y="2898648"/>
            <a:ext cx="948690" cy="502920"/>
          </a:xfrm>
          <a:prstGeom prst="rect">
            <a:avLst/>
          </a:prstGeom>
          <a:solidFill>
            <a:srgbClr val="7E7E7E"/>
          </a:solidFill>
          <a:ln w="9525">
            <a:solidFill>
              <a:srgbClr val="7C8AA5"/>
            </a:solidFill>
          </a:ln>
        </p:spPr>
        <p:txBody>
          <a:bodyPr wrap="square" lIns="0" tIns="0" rIns="0" bIns="0" rtlCol="0" anchor="ctr"/>
          <a:lstStyle/>
          <a:p>
            <a:pPr marL="0" indent="0" algn="ctr">
              <a:buNone/>
            </a:pPr>
            <a:r>
              <a:rPr lang="en-US" sz="1200" b="1" dirty="0">
                <a:solidFill>
                  <a:srgbClr val="FFFFFF"/>
                </a:solidFill>
              </a:rPr>
              <a:t>126</a:t>
            </a:r>
            <a:endParaRPr lang="en-US" sz="1200" dirty="0"/>
          </a:p>
        </p:txBody>
      </p:sp>
      <p:sp>
        <p:nvSpPr>
          <p:cNvPr id="11" name="Patch 1-7"/>
          <p:cNvSpPr/>
          <p:nvPr/>
        </p:nvSpPr>
        <p:spPr>
          <a:xfrm>
            <a:off x="6697980" y="2898648"/>
            <a:ext cx="948690" cy="502920"/>
          </a:xfrm>
          <a:prstGeom prst="rect">
            <a:avLst/>
          </a:prstGeom>
          <a:solidFill>
            <a:srgbClr val="8F8F8F"/>
          </a:solidFill>
          <a:ln w="9525">
            <a:solidFill>
              <a:srgbClr val="7C8AA5"/>
            </a:solidFill>
          </a:ln>
        </p:spPr>
        <p:txBody>
          <a:bodyPr wrap="square" lIns="0" tIns="0" rIns="0" bIns="0" rtlCol="0" anchor="ctr"/>
          <a:lstStyle/>
          <a:p>
            <a:pPr marL="0" indent="0" algn="ctr">
              <a:buNone/>
            </a:pPr>
            <a:r>
              <a:rPr lang="en-US" sz="1200" b="1" dirty="0">
                <a:solidFill>
                  <a:srgbClr val="161B26"/>
                </a:solidFill>
              </a:rPr>
              <a:t>143</a:t>
            </a:r>
            <a:endParaRPr lang="en-US" sz="1200" dirty="0"/>
          </a:p>
        </p:txBody>
      </p:sp>
      <p:sp>
        <p:nvSpPr>
          <p:cNvPr id="12" name="Patch 1-8"/>
          <p:cNvSpPr/>
          <p:nvPr/>
        </p:nvSpPr>
        <p:spPr>
          <a:xfrm>
            <a:off x="7738110" y="2898648"/>
            <a:ext cx="948690" cy="502920"/>
          </a:xfrm>
          <a:prstGeom prst="rect">
            <a:avLst/>
          </a:prstGeom>
          <a:solidFill>
            <a:srgbClr val="A0A0A0"/>
          </a:solidFill>
          <a:ln w="9525">
            <a:solidFill>
              <a:srgbClr val="7C8AA5"/>
            </a:solidFill>
          </a:ln>
        </p:spPr>
        <p:txBody>
          <a:bodyPr wrap="square" lIns="0" tIns="0" rIns="0" bIns="0" rtlCol="0" anchor="ctr"/>
          <a:lstStyle/>
          <a:p>
            <a:pPr marL="0" indent="0" algn="ctr">
              <a:buNone/>
            </a:pPr>
            <a:r>
              <a:rPr lang="en-US" sz="1200" b="1" dirty="0">
                <a:solidFill>
                  <a:srgbClr val="161B26"/>
                </a:solidFill>
              </a:rPr>
              <a:t>160</a:t>
            </a:r>
            <a:endParaRPr lang="en-US" sz="1200" dirty="0"/>
          </a:p>
        </p:txBody>
      </p:sp>
      <p:sp>
        <p:nvSpPr>
          <p:cNvPr id="13" name="Row label 2"/>
          <p:cNvSpPr txBox="1"/>
          <p:nvPr/>
        </p:nvSpPr>
        <p:spPr>
          <a:xfrm>
            <a:off x="457200" y="3520440"/>
            <a:ext cx="8229600" cy="274320"/>
          </a:xfrm>
          <a:prstGeom prst="rect">
            <a:avLst/>
          </a:prstGeom>
          <a:noFill/>
          <a:ln/>
        </p:spPr>
        <p:txBody>
          <a:bodyPr wrap="square" lIns="0" tIns="0" rIns="0" bIns="0" rtlCol="0" anchor="t"/>
          <a:lstStyle/>
          <a:p>
            <a:pPr marL="0" indent="0">
              <a:buNone/>
            </a:pPr>
            <a:r>
              <a:rPr lang="en-US" sz="1200" dirty="0">
                <a:solidFill>
                  <a:schemeClr val="accent6"/>
                </a:solidFill>
              </a:rPr>
              <a:t>Output: stretched, intensities 0 to 255</a:t>
            </a:r>
            <a:endParaRPr lang="en-US" sz="1200" dirty="0"/>
          </a:p>
        </p:txBody>
      </p:sp>
      <p:sp>
        <p:nvSpPr>
          <p:cNvPr id="14" name="Patch 2-1"/>
          <p:cNvSpPr/>
          <p:nvPr/>
        </p:nvSpPr>
        <p:spPr>
          <a:xfrm>
            <a:off x="457200" y="3813048"/>
            <a:ext cx="948690" cy="502920"/>
          </a:xfrm>
          <a:prstGeom prst="rect">
            <a:avLst/>
          </a:prstGeom>
          <a:solidFill>
            <a:srgbClr val="000000"/>
          </a:solidFill>
          <a:ln w="9525">
            <a:solidFill>
              <a:srgbClr val="7C8AA5"/>
            </a:solidFill>
          </a:ln>
        </p:spPr>
        <p:txBody>
          <a:bodyPr wrap="square" lIns="0" tIns="0" rIns="0" bIns="0" rtlCol="0" anchor="ctr"/>
          <a:lstStyle/>
          <a:p>
            <a:pPr marL="0" indent="0" algn="ctr">
              <a:buNone/>
            </a:pPr>
            <a:r>
              <a:rPr lang="en-US" sz="1200" b="1" dirty="0">
                <a:solidFill>
                  <a:srgbClr val="FFFFFF"/>
                </a:solidFill>
              </a:rPr>
              <a:t>0</a:t>
            </a:r>
            <a:endParaRPr lang="en-US" sz="1200" dirty="0"/>
          </a:p>
        </p:txBody>
      </p:sp>
      <p:sp>
        <p:nvSpPr>
          <p:cNvPr id="15" name="Patch 2-2"/>
          <p:cNvSpPr/>
          <p:nvPr/>
        </p:nvSpPr>
        <p:spPr>
          <a:xfrm>
            <a:off x="1497330" y="3813048"/>
            <a:ext cx="948690" cy="502920"/>
          </a:xfrm>
          <a:prstGeom prst="rect">
            <a:avLst/>
          </a:prstGeom>
          <a:solidFill>
            <a:srgbClr val="242424"/>
          </a:solidFill>
          <a:ln w="9525">
            <a:solidFill>
              <a:srgbClr val="7C8AA5"/>
            </a:solidFill>
          </a:ln>
        </p:spPr>
        <p:txBody>
          <a:bodyPr wrap="square" lIns="0" tIns="0" rIns="0" bIns="0" rtlCol="0" anchor="ctr"/>
          <a:lstStyle/>
          <a:p>
            <a:pPr marL="0" indent="0" algn="ctr">
              <a:buNone/>
            </a:pPr>
            <a:r>
              <a:rPr lang="en-US" sz="1200" b="1" dirty="0">
                <a:solidFill>
                  <a:srgbClr val="FFFFFF"/>
                </a:solidFill>
              </a:rPr>
              <a:t>36</a:t>
            </a:r>
            <a:endParaRPr lang="en-US" sz="1200" dirty="0"/>
          </a:p>
        </p:txBody>
      </p:sp>
      <p:sp>
        <p:nvSpPr>
          <p:cNvPr id="16" name="Patch 2-3"/>
          <p:cNvSpPr/>
          <p:nvPr/>
        </p:nvSpPr>
        <p:spPr>
          <a:xfrm>
            <a:off x="2537460" y="3813048"/>
            <a:ext cx="948690" cy="502920"/>
          </a:xfrm>
          <a:prstGeom prst="rect">
            <a:avLst/>
          </a:prstGeom>
          <a:solidFill>
            <a:srgbClr val="494949"/>
          </a:solidFill>
          <a:ln w="9525">
            <a:solidFill>
              <a:srgbClr val="7C8AA5"/>
            </a:solidFill>
          </a:ln>
        </p:spPr>
        <p:txBody>
          <a:bodyPr wrap="square" lIns="0" tIns="0" rIns="0" bIns="0" rtlCol="0" anchor="ctr"/>
          <a:lstStyle/>
          <a:p>
            <a:pPr marL="0" indent="0" algn="ctr">
              <a:buNone/>
            </a:pPr>
            <a:r>
              <a:rPr lang="en-US" sz="1200" b="1" dirty="0">
                <a:solidFill>
                  <a:srgbClr val="FFFFFF"/>
                </a:solidFill>
              </a:rPr>
              <a:t>73</a:t>
            </a:r>
            <a:endParaRPr lang="en-US" sz="1200" dirty="0"/>
          </a:p>
        </p:txBody>
      </p:sp>
      <p:sp>
        <p:nvSpPr>
          <p:cNvPr id="17" name="Patch 2-4"/>
          <p:cNvSpPr/>
          <p:nvPr/>
        </p:nvSpPr>
        <p:spPr>
          <a:xfrm>
            <a:off x="3577590" y="3813048"/>
            <a:ext cx="948690" cy="502920"/>
          </a:xfrm>
          <a:prstGeom prst="rect">
            <a:avLst/>
          </a:prstGeom>
          <a:solidFill>
            <a:srgbClr val="6D6D6D"/>
          </a:solidFill>
          <a:ln w="9525">
            <a:solidFill>
              <a:srgbClr val="7C8AA5"/>
            </a:solidFill>
          </a:ln>
        </p:spPr>
        <p:txBody>
          <a:bodyPr wrap="square" lIns="0" tIns="0" rIns="0" bIns="0" rtlCol="0" anchor="ctr"/>
          <a:lstStyle/>
          <a:p>
            <a:pPr marL="0" indent="0" algn="ctr">
              <a:buNone/>
            </a:pPr>
            <a:r>
              <a:rPr lang="en-US" sz="1200" b="1" dirty="0">
                <a:solidFill>
                  <a:srgbClr val="FFFFFF"/>
                </a:solidFill>
              </a:rPr>
              <a:t>109</a:t>
            </a:r>
            <a:endParaRPr lang="en-US" sz="1200" dirty="0"/>
          </a:p>
        </p:txBody>
      </p:sp>
      <p:sp>
        <p:nvSpPr>
          <p:cNvPr id="18" name="Patch 2-5"/>
          <p:cNvSpPr/>
          <p:nvPr/>
        </p:nvSpPr>
        <p:spPr>
          <a:xfrm>
            <a:off x="4617720" y="3813048"/>
            <a:ext cx="948690" cy="502920"/>
          </a:xfrm>
          <a:prstGeom prst="rect">
            <a:avLst/>
          </a:prstGeom>
          <a:solidFill>
            <a:srgbClr val="929292"/>
          </a:solidFill>
          <a:ln w="9525">
            <a:solidFill>
              <a:srgbClr val="7C8AA5"/>
            </a:solidFill>
          </a:ln>
        </p:spPr>
        <p:txBody>
          <a:bodyPr wrap="square" lIns="0" tIns="0" rIns="0" bIns="0" rtlCol="0" anchor="ctr"/>
          <a:lstStyle/>
          <a:p>
            <a:pPr marL="0" indent="0" algn="ctr">
              <a:buNone/>
            </a:pPr>
            <a:r>
              <a:rPr lang="en-US" sz="1200" b="1" dirty="0">
                <a:solidFill>
                  <a:srgbClr val="161B26"/>
                </a:solidFill>
              </a:rPr>
              <a:t>146</a:t>
            </a:r>
            <a:endParaRPr lang="en-US" sz="1200" dirty="0"/>
          </a:p>
        </p:txBody>
      </p:sp>
      <p:sp>
        <p:nvSpPr>
          <p:cNvPr id="19" name="Patch 2-6"/>
          <p:cNvSpPr/>
          <p:nvPr/>
        </p:nvSpPr>
        <p:spPr>
          <a:xfrm>
            <a:off x="5657850" y="3813048"/>
            <a:ext cx="948690" cy="502920"/>
          </a:xfrm>
          <a:prstGeom prst="rect">
            <a:avLst/>
          </a:prstGeom>
          <a:solidFill>
            <a:srgbClr val="B6B6B6"/>
          </a:solidFill>
          <a:ln w="9525">
            <a:solidFill>
              <a:srgbClr val="7C8AA5"/>
            </a:solidFill>
          </a:ln>
        </p:spPr>
        <p:txBody>
          <a:bodyPr wrap="square" lIns="0" tIns="0" rIns="0" bIns="0" rtlCol="0" anchor="ctr"/>
          <a:lstStyle/>
          <a:p>
            <a:pPr marL="0" indent="0" algn="ctr">
              <a:buNone/>
            </a:pPr>
            <a:r>
              <a:rPr lang="en-US" sz="1200" b="1" dirty="0">
                <a:solidFill>
                  <a:srgbClr val="161B26"/>
                </a:solidFill>
              </a:rPr>
              <a:t>182</a:t>
            </a:r>
            <a:endParaRPr lang="en-US" sz="1200" dirty="0"/>
          </a:p>
        </p:txBody>
      </p:sp>
      <p:sp>
        <p:nvSpPr>
          <p:cNvPr id="20" name="Patch 2-7"/>
          <p:cNvSpPr/>
          <p:nvPr/>
        </p:nvSpPr>
        <p:spPr>
          <a:xfrm>
            <a:off x="6697980" y="3813048"/>
            <a:ext cx="948690" cy="502920"/>
          </a:xfrm>
          <a:prstGeom prst="rect">
            <a:avLst/>
          </a:prstGeom>
          <a:solidFill>
            <a:srgbClr val="DBDBDB"/>
          </a:solidFill>
          <a:ln w="9525">
            <a:solidFill>
              <a:srgbClr val="7C8AA5"/>
            </a:solidFill>
          </a:ln>
        </p:spPr>
        <p:txBody>
          <a:bodyPr wrap="square" lIns="0" tIns="0" rIns="0" bIns="0" rtlCol="0" anchor="ctr"/>
          <a:lstStyle/>
          <a:p>
            <a:pPr marL="0" indent="0" algn="ctr">
              <a:buNone/>
            </a:pPr>
            <a:r>
              <a:rPr lang="en-US" sz="1200" b="1" dirty="0">
                <a:solidFill>
                  <a:srgbClr val="161B26"/>
                </a:solidFill>
              </a:rPr>
              <a:t>219</a:t>
            </a:r>
            <a:endParaRPr lang="en-US" sz="1200" dirty="0"/>
          </a:p>
        </p:txBody>
      </p:sp>
      <p:sp>
        <p:nvSpPr>
          <p:cNvPr id="21" name="Patch 2-8"/>
          <p:cNvSpPr/>
          <p:nvPr/>
        </p:nvSpPr>
        <p:spPr>
          <a:xfrm>
            <a:off x="7738110" y="3813048"/>
            <a:ext cx="948690" cy="502920"/>
          </a:xfrm>
          <a:prstGeom prst="rect">
            <a:avLst/>
          </a:prstGeom>
          <a:solidFill>
            <a:srgbClr val="FFFFFF"/>
          </a:solidFill>
          <a:ln w="9525">
            <a:solidFill>
              <a:srgbClr val="7C8AA5"/>
            </a:solidFill>
          </a:ln>
        </p:spPr>
        <p:txBody>
          <a:bodyPr wrap="square" lIns="0" tIns="0" rIns="0" bIns="0" rtlCol="0" anchor="ctr"/>
          <a:lstStyle/>
          <a:p>
            <a:pPr marL="0" indent="0" algn="ctr">
              <a:buNone/>
            </a:pPr>
            <a:r>
              <a:rPr lang="en-US" sz="1200" b="1" dirty="0">
                <a:solidFill>
                  <a:srgbClr val="161B26"/>
                </a:solidFill>
              </a:rPr>
              <a:t>255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The Washed-Out Image</a:t>
            </a:r>
            <a:endParaRPr lang="en-US" sz="3400" dirty="0"/>
          </a:p>
        </p:txBody>
      </p:sp>
      <p:sp>
        <p:nvSpPr>
          <p:cNvPr id="3" name="Step badge 1"/>
          <p:cNvSpPr/>
          <p:nvPr/>
        </p:nvSpPr>
        <p:spPr>
          <a:xfrm>
            <a:off x="457200" y="1280160"/>
            <a:ext cx="411480" cy="41148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4" name="Row head 1"/>
          <p:cNvSpPr txBox="1"/>
          <p:nvPr/>
        </p:nvSpPr>
        <p:spPr>
          <a:xfrm>
            <a:off x="1051560" y="1261872"/>
            <a:ext cx="3291840" cy="274320"/>
          </a:xfrm>
          <a:prstGeom prst="rect">
            <a:avLst/>
          </a:prstGeom>
          <a:noFill/>
          <a:ln/>
        </p:spPr>
        <p:txBody>
          <a:bodyPr wrap="square" lIns="0" tIns="0" rIns="0" bIns="0" rtlCol="0" anchor="t"/>
          <a:lstStyle/>
          <a:p>
            <a:pPr marL="0" indent="0">
              <a:buNone/>
            </a:pPr>
            <a:r>
              <a:rPr lang="en-US" sz="1600" b="1" dirty="0">
                <a:solidFill>
                  <a:schemeClr val="tx1"/>
                </a:solidFill>
              </a:rPr>
              <a:t>Narrow range</a:t>
            </a:r>
            <a:endParaRPr lang="en-US" sz="1600" dirty="0"/>
          </a:p>
        </p:txBody>
      </p:sp>
      <p:sp>
        <p:nvSpPr>
          <p:cNvPr id="5" name="Row text 1"/>
          <p:cNvSpPr txBox="1"/>
          <p:nvPr/>
        </p:nvSpPr>
        <p:spPr>
          <a:xfrm>
            <a:off x="1051560" y="1572768"/>
            <a:ext cx="3291840" cy="594360"/>
          </a:xfrm>
          <a:prstGeom prst="rect">
            <a:avLst/>
          </a:prstGeom>
          <a:noFill/>
          <a:ln/>
        </p:spPr>
        <p:txBody>
          <a:bodyPr wrap="square" lIns="0" tIns="0" rIns="0" bIns="0" rtlCol="0" anchor="t"/>
          <a:lstStyle/>
          <a:p>
            <a:pPr marL="0" indent="0">
              <a:buNone/>
            </a:pPr>
            <a:r>
              <a:rPr lang="en-US" sz="1400" dirty="0">
                <a:solidFill>
                  <a:schemeClr val="tx2"/>
                </a:solidFill>
              </a:rPr>
              <a:t>Pixels use only a small band of the 0 to 255 scale, e.g. 40 to 160.</a:t>
            </a:r>
            <a:endParaRPr lang="en-US" sz="1400" dirty="0"/>
          </a:p>
        </p:txBody>
      </p:sp>
      <p:sp>
        <p:nvSpPr>
          <p:cNvPr id="6" name="Step badge 2"/>
          <p:cNvSpPr/>
          <p:nvPr/>
        </p:nvSpPr>
        <p:spPr>
          <a:xfrm>
            <a:off x="457200" y="2331720"/>
            <a:ext cx="411480" cy="41148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7" name="Row head 2"/>
          <p:cNvSpPr txBox="1"/>
          <p:nvPr/>
        </p:nvSpPr>
        <p:spPr>
          <a:xfrm>
            <a:off x="1051560" y="2313432"/>
            <a:ext cx="3291840" cy="274320"/>
          </a:xfrm>
          <a:prstGeom prst="rect">
            <a:avLst/>
          </a:prstGeom>
          <a:noFill/>
          <a:ln/>
        </p:spPr>
        <p:txBody>
          <a:bodyPr wrap="square" lIns="0" tIns="0" rIns="0" bIns="0" rtlCol="0" anchor="t"/>
          <a:lstStyle/>
          <a:p>
            <a:pPr marL="0" indent="0">
              <a:buNone/>
            </a:pPr>
            <a:r>
              <a:rPr lang="en-US" sz="1600" b="1" dirty="0">
                <a:solidFill>
                  <a:schemeClr val="tx1"/>
                </a:solidFill>
              </a:rPr>
              <a:t>Small differences</a:t>
            </a:r>
            <a:endParaRPr lang="en-US" sz="1600" dirty="0"/>
          </a:p>
        </p:txBody>
      </p:sp>
      <p:sp>
        <p:nvSpPr>
          <p:cNvPr id="8" name="Row text 2"/>
          <p:cNvSpPr txBox="1"/>
          <p:nvPr/>
        </p:nvSpPr>
        <p:spPr>
          <a:xfrm>
            <a:off x="1051560" y="2624328"/>
            <a:ext cx="3291840" cy="594360"/>
          </a:xfrm>
          <a:prstGeom prst="rect">
            <a:avLst/>
          </a:prstGeom>
          <a:noFill/>
          <a:ln/>
        </p:spPr>
        <p:txBody>
          <a:bodyPr wrap="square" lIns="0" tIns="0" rIns="0" bIns="0" rtlCol="0" anchor="t"/>
          <a:lstStyle/>
          <a:p>
            <a:pPr marL="0" indent="0">
              <a:buNone/>
            </a:pPr>
            <a:r>
              <a:rPr lang="en-US" sz="1400" dirty="0">
                <a:solidFill>
                  <a:schemeClr val="tx2"/>
                </a:solidFill>
              </a:rPr>
              <a:t>Neighbouring gray levels differ by a few units, so texture blurs.</a:t>
            </a:r>
            <a:endParaRPr lang="en-US" sz="1400" dirty="0"/>
          </a:p>
        </p:txBody>
      </p:sp>
      <p:sp>
        <p:nvSpPr>
          <p:cNvPr id="9" name="Step badge 3"/>
          <p:cNvSpPr/>
          <p:nvPr/>
        </p:nvSpPr>
        <p:spPr>
          <a:xfrm>
            <a:off x="457200" y="3383280"/>
            <a:ext cx="411480" cy="41148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0" name="Row head 3"/>
          <p:cNvSpPr txBox="1"/>
          <p:nvPr/>
        </p:nvSpPr>
        <p:spPr>
          <a:xfrm>
            <a:off x="1051560" y="3364992"/>
            <a:ext cx="3291840" cy="274320"/>
          </a:xfrm>
          <a:prstGeom prst="rect">
            <a:avLst/>
          </a:prstGeom>
          <a:noFill/>
          <a:ln/>
        </p:spPr>
        <p:txBody>
          <a:bodyPr wrap="square" lIns="0" tIns="0" rIns="0" bIns="0" rtlCol="0" anchor="t"/>
          <a:lstStyle/>
          <a:p>
            <a:pPr marL="0" indent="0">
              <a:buNone/>
            </a:pPr>
            <a:r>
              <a:rPr lang="en-US" sz="1600" b="1" dirty="0">
                <a:solidFill>
                  <a:schemeClr val="tx1"/>
                </a:solidFill>
              </a:rPr>
              <a:t>Hazy look</a:t>
            </a:r>
            <a:endParaRPr lang="en-US" sz="1600" dirty="0"/>
          </a:p>
        </p:txBody>
      </p:sp>
      <p:sp>
        <p:nvSpPr>
          <p:cNvPr id="11" name="Row text 3"/>
          <p:cNvSpPr txBox="1"/>
          <p:nvPr/>
        </p:nvSpPr>
        <p:spPr>
          <a:xfrm>
            <a:off x="1051560" y="3675888"/>
            <a:ext cx="3291840" cy="594360"/>
          </a:xfrm>
          <a:prstGeom prst="rect">
            <a:avLst/>
          </a:prstGeom>
          <a:noFill/>
          <a:ln/>
        </p:spPr>
        <p:txBody>
          <a:bodyPr wrap="square" lIns="0" tIns="0" rIns="0" bIns="0" rtlCol="0" anchor="t"/>
          <a:lstStyle/>
          <a:p>
            <a:pPr marL="0" indent="0">
              <a:buNone/>
            </a:pPr>
            <a:r>
              <a:rPr lang="en-US" sz="1400" dirty="0">
                <a:solidFill>
                  <a:schemeClr val="tx2"/>
                </a:solidFill>
              </a:rPr>
              <a:t>The dark and bright ends of the display go unused.</a:t>
            </a:r>
            <a:endParaRPr lang="en-US" sz="1400" dirty="0"/>
          </a:p>
        </p:txBody>
      </p:sp>
      <p:graphicFrame>
        <p:nvGraphicFramePr>
          <p:cNvPr id="12" name="Chart 0"/>
          <p:cNvGraphicFramePr/>
          <p:nvPr/>
        </p:nvGraphicFramePr>
        <p:xfrm>
          <a:off x="4572000" y="1188720"/>
          <a:ext cx="41148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How Stretching Works</a:t>
            </a:r>
            <a:endParaRPr lang="en-US" sz="3400" dirty="0"/>
          </a:p>
        </p:txBody>
      </p:sp>
      <p:sp>
        <p:nvSpPr>
          <p:cNvPr id="3" name="Formula card"/>
          <p:cNvSpPr/>
          <p:nvPr/>
        </p:nvSpPr>
        <p:spPr>
          <a:xfrm>
            <a:off x="457200" y="1188720"/>
            <a:ext cx="8229600" cy="1234440"/>
          </a:xfrm>
          <a:prstGeom prst="roundRect">
            <a:avLst>
              <a:gd name="adj" fmla="val 7407"/>
            </a:avLst>
          </a:prstGeom>
          <a:solidFill>
            <a:schemeClr val="tx2"/>
          </a:solidFill>
          <a:ln/>
        </p:spPr>
      </p:sp>
      <p:sp>
        <p:nvSpPr>
          <p:cNvPr id="4" name="Formula"/>
          <p:cNvSpPr txBox="1"/>
          <p:nvPr/>
        </p:nvSpPr>
        <p:spPr>
          <a:xfrm>
            <a:off x="457200" y="1298448"/>
            <a:ext cx="8229600" cy="594360"/>
          </a:xfrm>
          <a:prstGeom prst="rect">
            <a:avLst/>
          </a:prstGeom>
          <a:noFill/>
          <a:ln/>
        </p:spPr>
        <p:txBody>
          <a:bodyPr wrap="square" lIns="0" tIns="0" rIns="0" bIns="0" rtlCol="0" anchor="ctr"/>
          <a:lstStyle/>
          <a:p>
            <a:pPr marL="0" indent="0" algn="ctr">
              <a:buNone/>
            </a:pPr>
            <a:r>
              <a:rPr lang="en-US" sz="2800" b="1" dirty="0">
                <a:solidFill>
                  <a:schemeClr val="bg1"/>
                </a:solidFill>
              </a:rPr>
              <a:t>s = (r − r</a:t>
            </a:r>
            <a:r>
              <a:rPr lang="en-US" sz="2800" b="1" baseline="-40000" dirty="0">
                <a:solidFill>
                  <a:schemeClr val="bg1"/>
                </a:solidFill>
              </a:rPr>
              <a:t>min</a:t>
            </a:r>
            <a:r>
              <a:rPr lang="en-US" sz="2800" b="1" dirty="0">
                <a:solidFill>
                  <a:schemeClr val="bg1"/>
                </a:solidFill>
              </a:rPr>
              <a:t>) / (r</a:t>
            </a:r>
            <a:r>
              <a:rPr lang="en-US" sz="2800" b="1" baseline="-40000" dirty="0">
                <a:solidFill>
                  <a:schemeClr val="bg1"/>
                </a:solidFill>
              </a:rPr>
              <a:t>max</a:t>
            </a:r>
            <a:r>
              <a:rPr lang="en-US" sz="2800" b="1" dirty="0">
                <a:solidFill>
                  <a:schemeClr val="bg1"/>
                </a:solidFill>
              </a:rPr>
              <a:t> − r</a:t>
            </a:r>
            <a:r>
              <a:rPr lang="en-US" sz="2800" b="1" baseline="-40000" dirty="0">
                <a:solidFill>
                  <a:schemeClr val="bg1"/>
                </a:solidFill>
              </a:rPr>
              <a:t>min</a:t>
            </a:r>
            <a:r>
              <a:rPr lang="en-US" sz="2800" b="1" dirty="0">
                <a:solidFill>
                  <a:schemeClr val="bg1"/>
                </a:solidFill>
              </a:rPr>
              <a:t>)  ×  (L − 1)</a:t>
            </a:r>
            <a:endParaRPr lang="en-US" sz="2800" dirty="0"/>
          </a:p>
        </p:txBody>
      </p:sp>
      <p:sp>
        <p:nvSpPr>
          <p:cNvPr id="5" name="Formula legend"/>
          <p:cNvSpPr txBox="1"/>
          <p:nvPr/>
        </p:nvSpPr>
        <p:spPr>
          <a:xfrm>
            <a:off x="457200" y="1920240"/>
            <a:ext cx="8229600" cy="320040"/>
          </a:xfrm>
          <a:prstGeom prst="rect">
            <a:avLst/>
          </a:prstGeom>
          <a:noFill/>
          <a:ln/>
        </p:spPr>
        <p:txBody>
          <a:bodyPr wrap="square" lIns="0" tIns="0" rIns="0" bIns="0" rtlCol="0" anchor="ctr"/>
          <a:lstStyle/>
          <a:p>
            <a:pPr marL="0" indent="0" algn="ctr">
              <a:buNone/>
            </a:pPr>
            <a:r>
              <a:rPr lang="en-US" sz="1400" dirty="0">
                <a:solidFill>
                  <a:schemeClr val="bg2"/>
                </a:solidFill>
              </a:rPr>
              <a:t>r = input intensity   ·   s = output intensity   ·   L = 256 gray levels (8-bit)</a:t>
            </a:r>
            <a:endParaRPr lang="en-US" sz="1400" dirty="0"/>
          </a:p>
        </p:txBody>
      </p:sp>
      <p:sp>
        <p:nvSpPr>
          <p:cNvPr id="6" name="Card 1"/>
          <p:cNvSpPr/>
          <p:nvPr/>
        </p:nvSpPr>
        <p:spPr>
          <a:xfrm>
            <a:off x="457200" y="2697480"/>
            <a:ext cx="2560320" cy="1783080"/>
          </a:xfrm>
          <a:prstGeom prst="roundRect">
            <a:avLst>
              <a:gd name="adj" fmla="val 5128"/>
            </a:avLst>
          </a:prstGeom>
          <a:solidFill>
            <a:schemeClr val="bg2"/>
          </a:solidFill>
          <a:ln/>
        </p:spPr>
      </p:sp>
      <p:sp>
        <p:nvSpPr>
          <p:cNvPr id="7" name="Card badge 1"/>
          <p:cNvSpPr/>
          <p:nvPr/>
        </p:nvSpPr>
        <p:spPr>
          <a:xfrm>
            <a:off x="640080" y="2852928"/>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8" name="Card head 1"/>
          <p:cNvSpPr txBox="1"/>
          <p:nvPr/>
        </p:nvSpPr>
        <p:spPr>
          <a:xfrm>
            <a:off x="640080" y="3383280"/>
            <a:ext cx="2194560" cy="274320"/>
          </a:xfrm>
          <a:prstGeom prst="rect">
            <a:avLst/>
          </a:prstGeom>
          <a:noFill/>
          <a:ln/>
        </p:spPr>
        <p:txBody>
          <a:bodyPr wrap="square" lIns="0" tIns="0" rIns="0" bIns="0" rtlCol="0" anchor="t"/>
          <a:lstStyle/>
          <a:p>
            <a:pPr marL="0" indent="0">
              <a:buNone/>
            </a:pPr>
            <a:r>
              <a:rPr lang="en-US" sz="1600" b="1" dirty="0">
                <a:solidFill>
                  <a:schemeClr val="tx1"/>
                </a:solidFill>
              </a:rPr>
              <a:t>Find the limits</a:t>
            </a:r>
            <a:endParaRPr lang="en-US" sz="1600" dirty="0"/>
          </a:p>
        </p:txBody>
      </p:sp>
      <p:sp>
        <p:nvSpPr>
          <p:cNvPr id="9" name="Card text 1"/>
          <p:cNvSpPr txBox="1"/>
          <p:nvPr/>
        </p:nvSpPr>
        <p:spPr>
          <a:xfrm>
            <a:off x="640080" y="3703320"/>
            <a:ext cx="2194560" cy="731520"/>
          </a:xfrm>
          <a:prstGeom prst="rect">
            <a:avLst/>
          </a:prstGeom>
          <a:noFill/>
          <a:ln/>
        </p:spPr>
        <p:txBody>
          <a:bodyPr wrap="square" lIns="0" tIns="0" rIns="0" bIns="0" rtlCol="0" anchor="t"/>
          <a:lstStyle/>
          <a:p>
            <a:pPr marL="0" indent="0">
              <a:buNone/>
            </a:pPr>
            <a:r>
              <a:rPr lang="en-US" sz="1400" dirty="0">
                <a:solidFill>
                  <a:schemeClr val="tx2"/>
                </a:solidFill>
              </a:rPr>
              <a:t>Scan the image for its lowest and highest intensity.</a:t>
            </a:r>
            <a:endParaRPr lang="en-US" sz="1400" dirty="0"/>
          </a:p>
        </p:txBody>
      </p:sp>
      <p:sp>
        <p:nvSpPr>
          <p:cNvPr id="10" name="Card 2"/>
          <p:cNvSpPr/>
          <p:nvPr/>
        </p:nvSpPr>
        <p:spPr>
          <a:xfrm>
            <a:off x="3291840" y="2697480"/>
            <a:ext cx="2560320" cy="1783080"/>
          </a:xfrm>
          <a:prstGeom prst="roundRect">
            <a:avLst>
              <a:gd name="adj" fmla="val 5128"/>
            </a:avLst>
          </a:prstGeom>
          <a:solidFill>
            <a:schemeClr val="bg2"/>
          </a:solidFill>
          <a:ln/>
        </p:spPr>
      </p:sp>
      <p:sp>
        <p:nvSpPr>
          <p:cNvPr id="11" name="Card badge 2"/>
          <p:cNvSpPr/>
          <p:nvPr/>
        </p:nvSpPr>
        <p:spPr>
          <a:xfrm>
            <a:off x="3474720" y="2852928"/>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2" name="Card head 2"/>
          <p:cNvSpPr txBox="1"/>
          <p:nvPr/>
        </p:nvSpPr>
        <p:spPr>
          <a:xfrm>
            <a:off x="3474720" y="3383280"/>
            <a:ext cx="2194560" cy="274320"/>
          </a:xfrm>
          <a:prstGeom prst="rect">
            <a:avLst/>
          </a:prstGeom>
          <a:noFill/>
          <a:ln/>
        </p:spPr>
        <p:txBody>
          <a:bodyPr wrap="square" lIns="0" tIns="0" rIns="0" bIns="0" rtlCol="0" anchor="t"/>
          <a:lstStyle/>
          <a:p>
            <a:pPr marL="0" indent="0">
              <a:buNone/>
            </a:pPr>
            <a:r>
              <a:rPr lang="en-US" sz="1600" b="1" dirty="0">
                <a:solidFill>
                  <a:schemeClr val="tx1"/>
                </a:solidFill>
              </a:rPr>
              <a:t>Map linearly</a:t>
            </a:r>
            <a:endParaRPr lang="en-US" sz="1600" dirty="0"/>
          </a:p>
        </p:txBody>
      </p:sp>
      <p:sp>
        <p:nvSpPr>
          <p:cNvPr id="13" name="Card text 2"/>
          <p:cNvSpPr txBox="1"/>
          <p:nvPr/>
        </p:nvSpPr>
        <p:spPr>
          <a:xfrm>
            <a:off x="3474720" y="3703320"/>
            <a:ext cx="2194560" cy="731520"/>
          </a:xfrm>
          <a:prstGeom prst="rect">
            <a:avLst/>
          </a:prstGeom>
          <a:noFill/>
          <a:ln/>
        </p:spPr>
        <p:txBody>
          <a:bodyPr wrap="square" lIns="0" tIns="0" rIns="0" bIns="0" rtlCol="0" anchor="t"/>
          <a:lstStyle/>
          <a:p>
            <a:pPr marL="0" indent="0">
              <a:buNone/>
            </a:pPr>
            <a:r>
              <a:rPr lang="en-US" sz="1400" dirty="0">
                <a:solidFill>
                  <a:schemeClr val="tx2"/>
                </a:solidFill>
              </a:rPr>
              <a:t>Subtract the minimum, divide by the range, scale by 255.</a:t>
            </a:r>
            <a:endParaRPr lang="en-US" sz="1400" dirty="0"/>
          </a:p>
        </p:txBody>
      </p:sp>
      <p:sp>
        <p:nvSpPr>
          <p:cNvPr id="14" name="Card 3"/>
          <p:cNvSpPr/>
          <p:nvPr/>
        </p:nvSpPr>
        <p:spPr>
          <a:xfrm>
            <a:off x="6126480" y="2697480"/>
            <a:ext cx="2560320" cy="1783080"/>
          </a:xfrm>
          <a:prstGeom prst="roundRect">
            <a:avLst>
              <a:gd name="adj" fmla="val 5128"/>
            </a:avLst>
          </a:prstGeom>
          <a:solidFill>
            <a:schemeClr val="bg2"/>
          </a:solidFill>
          <a:ln/>
        </p:spPr>
      </p:sp>
      <p:sp>
        <p:nvSpPr>
          <p:cNvPr id="15" name="Card badge 3"/>
          <p:cNvSpPr/>
          <p:nvPr/>
        </p:nvSpPr>
        <p:spPr>
          <a:xfrm>
            <a:off x="6309360" y="2852928"/>
            <a:ext cx="411480" cy="41148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6" name="Card head 3"/>
          <p:cNvSpPr txBox="1"/>
          <p:nvPr/>
        </p:nvSpPr>
        <p:spPr>
          <a:xfrm>
            <a:off x="6309360" y="3383280"/>
            <a:ext cx="2194560" cy="274320"/>
          </a:xfrm>
          <a:prstGeom prst="rect">
            <a:avLst/>
          </a:prstGeom>
          <a:noFill/>
          <a:ln/>
        </p:spPr>
        <p:txBody>
          <a:bodyPr wrap="square" lIns="0" tIns="0" rIns="0" bIns="0" rtlCol="0" anchor="t"/>
          <a:lstStyle/>
          <a:p>
            <a:pPr marL="0" indent="0">
              <a:buNone/>
            </a:pPr>
            <a:r>
              <a:rPr lang="en-US" sz="1600" b="1" dirty="0">
                <a:solidFill>
                  <a:schemeClr val="tx1"/>
                </a:solidFill>
              </a:rPr>
              <a:t>Round and clip</a:t>
            </a:r>
            <a:endParaRPr lang="en-US" sz="1600" dirty="0"/>
          </a:p>
        </p:txBody>
      </p:sp>
      <p:sp>
        <p:nvSpPr>
          <p:cNvPr id="17" name="Card text 3"/>
          <p:cNvSpPr txBox="1"/>
          <p:nvPr/>
        </p:nvSpPr>
        <p:spPr>
          <a:xfrm>
            <a:off x="6309360" y="3703320"/>
            <a:ext cx="2194560" cy="731520"/>
          </a:xfrm>
          <a:prstGeom prst="rect">
            <a:avLst/>
          </a:prstGeom>
          <a:noFill/>
          <a:ln/>
        </p:spPr>
        <p:txBody>
          <a:bodyPr wrap="square" lIns="0" tIns="0" rIns="0" bIns="0" rtlCol="0" anchor="t"/>
          <a:lstStyle/>
          <a:p>
            <a:pPr marL="0" indent="0">
              <a:buNone/>
            </a:pPr>
            <a:r>
              <a:rPr lang="en-US" sz="1400" dirty="0">
                <a:solidFill>
                  <a:schemeClr val="tx2"/>
                </a:solidFill>
              </a:rPr>
              <a:t>Round to the nearest integer and keep it within 0 to 255.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Redistributing Intensities</a:t>
            </a:r>
            <a:endParaRPr lang="en-US" sz="3400" dirty="0"/>
          </a:p>
        </p:txBody>
      </p:sp>
      <p:graphicFrame>
        <p:nvGraphicFramePr>
          <p:cNvPr id="3" name="Chart 0"/>
          <p:cNvGraphicFramePr/>
          <p:nvPr/>
        </p:nvGraphicFramePr>
        <p:xfrm>
          <a:off x="457200" y="1143000"/>
          <a:ext cx="393192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4754880" y="1143000"/>
          <a:ext cx="39319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5" name="Takeaway"/>
          <p:cNvSpPr txBox="1"/>
          <p:nvPr/>
        </p:nvSpPr>
        <p:spPr>
          <a:xfrm>
            <a:off x="457200" y="3886200"/>
            <a:ext cx="8229600" cy="594360"/>
          </a:xfrm>
          <a:prstGeom prst="rect">
            <a:avLst/>
          </a:prstGeom>
          <a:noFill/>
          <a:ln/>
        </p:spPr>
        <p:txBody>
          <a:bodyPr wrap="square" lIns="0" tIns="0" rIns="0" bIns="0" rtlCol="0" anchor="t"/>
          <a:lstStyle/>
          <a:p>
            <a:pPr marL="0" indent="0">
              <a:buNone/>
            </a:pPr>
            <a:r>
              <a:rPr lang="en-US" sz="1600" dirty="0">
                <a:solidFill>
                  <a:schemeClr val="tx1"/>
                </a:solidFill>
              </a:rPr>
              <a:t>Same histogram shape, wider spread. Every difference between gray levels is multiplied by about 2.13 (255 ÷ 120), so the full scale is used.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Why Details Become Visible</a:t>
            </a:r>
            <a:endParaRPr lang="en-US" sz="3400" dirty="0"/>
          </a:p>
        </p:txBody>
      </p:sp>
      <p:sp>
        <p:nvSpPr>
          <p:cNvPr id="3" name="Stat card 1"/>
          <p:cNvSpPr/>
          <p:nvPr/>
        </p:nvSpPr>
        <p:spPr>
          <a:xfrm>
            <a:off x="457200" y="1280160"/>
            <a:ext cx="2560320" cy="2103120"/>
          </a:xfrm>
          <a:prstGeom prst="roundRect">
            <a:avLst>
              <a:gd name="adj" fmla="val 4348"/>
            </a:avLst>
          </a:prstGeom>
          <a:solidFill>
            <a:schemeClr val="bg2"/>
          </a:solidFill>
          <a:ln/>
        </p:spPr>
      </p:sp>
      <p:sp>
        <p:nvSpPr>
          <p:cNvPr id="4" name="Stat 1"/>
          <p:cNvSpPr txBox="1"/>
          <p:nvPr/>
        </p:nvSpPr>
        <p:spPr>
          <a:xfrm>
            <a:off x="640080" y="1508760"/>
            <a:ext cx="2194560" cy="640080"/>
          </a:xfrm>
          <a:prstGeom prst="rect">
            <a:avLst/>
          </a:prstGeom>
          <a:noFill/>
          <a:ln/>
        </p:spPr>
        <p:txBody>
          <a:bodyPr wrap="square" lIns="0" tIns="0" rIns="0" bIns="0" rtlCol="0" anchor="ctr"/>
          <a:lstStyle/>
          <a:p>
            <a:pPr marL="0" indent="0">
              <a:buNone/>
            </a:pPr>
            <a:r>
              <a:rPr lang="en-US" sz="3200" b="1" dirty="0">
                <a:solidFill>
                  <a:schemeClr val="accent2"/>
                </a:solidFill>
              </a:rPr>
              <a:t>2.13×</a:t>
            </a:r>
            <a:endParaRPr lang="en-US" sz="3200" dirty="0"/>
          </a:p>
        </p:txBody>
      </p:sp>
      <p:sp>
        <p:nvSpPr>
          <p:cNvPr id="5" name="Stat label 1"/>
          <p:cNvSpPr txBox="1"/>
          <p:nvPr/>
        </p:nvSpPr>
        <p:spPr>
          <a:xfrm>
            <a:off x="640080" y="2286000"/>
            <a:ext cx="2194560" cy="914400"/>
          </a:xfrm>
          <a:prstGeom prst="rect">
            <a:avLst/>
          </a:prstGeom>
          <a:noFill/>
          <a:ln/>
        </p:spPr>
        <p:txBody>
          <a:bodyPr wrap="square" lIns="0" tIns="0" rIns="0" bIns="0" rtlCol="0" anchor="t"/>
          <a:lstStyle/>
          <a:p>
            <a:pPr marL="0" indent="0">
              <a:buNone/>
            </a:pPr>
            <a:r>
              <a:rPr lang="en-US" sz="1400" dirty="0">
                <a:solidFill>
                  <a:schemeClr val="tx2"/>
                </a:solidFill>
              </a:rPr>
              <a:t>Every gray-level difference is multiplied by this slope</a:t>
            </a:r>
            <a:endParaRPr lang="en-US" sz="1400" dirty="0"/>
          </a:p>
        </p:txBody>
      </p:sp>
      <p:sp>
        <p:nvSpPr>
          <p:cNvPr id="6" name="Stat card 2"/>
          <p:cNvSpPr/>
          <p:nvPr/>
        </p:nvSpPr>
        <p:spPr>
          <a:xfrm>
            <a:off x="3291840" y="1280160"/>
            <a:ext cx="2560320" cy="2103120"/>
          </a:xfrm>
          <a:prstGeom prst="roundRect">
            <a:avLst>
              <a:gd name="adj" fmla="val 4348"/>
            </a:avLst>
          </a:prstGeom>
          <a:solidFill>
            <a:schemeClr val="bg2"/>
          </a:solidFill>
          <a:ln/>
        </p:spPr>
      </p:sp>
      <p:sp>
        <p:nvSpPr>
          <p:cNvPr id="7" name="Stat 2"/>
          <p:cNvSpPr txBox="1"/>
          <p:nvPr/>
        </p:nvSpPr>
        <p:spPr>
          <a:xfrm>
            <a:off x="3474720" y="1508760"/>
            <a:ext cx="2194560" cy="640080"/>
          </a:xfrm>
          <a:prstGeom prst="rect">
            <a:avLst/>
          </a:prstGeom>
          <a:noFill/>
          <a:ln/>
        </p:spPr>
        <p:txBody>
          <a:bodyPr wrap="square" lIns="0" tIns="0" rIns="0" bIns="0" rtlCol="0" anchor="ctr"/>
          <a:lstStyle/>
          <a:p>
            <a:pPr marL="0" indent="0">
              <a:buNone/>
            </a:pPr>
            <a:r>
              <a:rPr lang="en-US" sz="3200" b="1" dirty="0">
                <a:solidFill>
                  <a:schemeClr val="accent2"/>
                </a:solidFill>
              </a:rPr>
              <a:t>5 → 10.6</a:t>
            </a:r>
            <a:endParaRPr lang="en-US" sz="3200" dirty="0"/>
          </a:p>
        </p:txBody>
      </p:sp>
      <p:sp>
        <p:nvSpPr>
          <p:cNvPr id="8" name="Stat label 2"/>
          <p:cNvSpPr txBox="1"/>
          <p:nvPr/>
        </p:nvSpPr>
        <p:spPr>
          <a:xfrm>
            <a:off x="3474720" y="2286000"/>
            <a:ext cx="2194560" cy="914400"/>
          </a:xfrm>
          <a:prstGeom prst="rect">
            <a:avLst/>
          </a:prstGeom>
          <a:noFill/>
          <a:ln/>
        </p:spPr>
        <p:txBody>
          <a:bodyPr wrap="square" lIns="0" tIns="0" rIns="0" bIns="0" rtlCol="0" anchor="t"/>
          <a:lstStyle/>
          <a:p>
            <a:pPr marL="0" indent="0">
              <a:buNone/>
            </a:pPr>
            <a:r>
              <a:rPr lang="en-US" sz="1400" dirty="0">
                <a:solidFill>
                  <a:schemeClr val="tx2"/>
                </a:solidFill>
              </a:rPr>
              <a:t>Gap between pixels 100 and 105 grows after stretching</a:t>
            </a:r>
            <a:endParaRPr lang="en-US" sz="1400" dirty="0"/>
          </a:p>
        </p:txBody>
      </p:sp>
      <p:sp>
        <p:nvSpPr>
          <p:cNvPr id="9" name="Stat card 3"/>
          <p:cNvSpPr/>
          <p:nvPr/>
        </p:nvSpPr>
        <p:spPr>
          <a:xfrm>
            <a:off x="6126480" y="1280160"/>
            <a:ext cx="2560320" cy="2103120"/>
          </a:xfrm>
          <a:prstGeom prst="roundRect">
            <a:avLst>
              <a:gd name="adj" fmla="val 4348"/>
            </a:avLst>
          </a:prstGeom>
          <a:solidFill>
            <a:schemeClr val="bg2"/>
          </a:solidFill>
          <a:ln/>
        </p:spPr>
      </p:sp>
      <p:sp>
        <p:nvSpPr>
          <p:cNvPr id="10" name="Stat 3"/>
          <p:cNvSpPr txBox="1"/>
          <p:nvPr/>
        </p:nvSpPr>
        <p:spPr>
          <a:xfrm>
            <a:off x="6309360" y="1508760"/>
            <a:ext cx="2194560" cy="640080"/>
          </a:xfrm>
          <a:prstGeom prst="rect">
            <a:avLst/>
          </a:prstGeom>
          <a:noFill/>
          <a:ln/>
        </p:spPr>
        <p:txBody>
          <a:bodyPr wrap="square" lIns="0" tIns="0" rIns="0" bIns="0" rtlCol="0" anchor="ctr"/>
          <a:lstStyle/>
          <a:p>
            <a:pPr marL="0" indent="0">
              <a:buNone/>
            </a:pPr>
            <a:r>
              <a:rPr lang="en-US" sz="3200" b="1" dirty="0">
                <a:solidFill>
                  <a:schemeClr val="accent2"/>
                </a:solidFill>
              </a:rPr>
              <a:t>47% → 100%</a:t>
            </a:r>
            <a:endParaRPr lang="en-US" sz="3200" dirty="0"/>
          </a:p>
        </p:txBody>
      </p:sp>
      <p:sp>
        <p:nvSpPr>
          <p:cNvPr id="11" name="Stat label 3"/>
          <p:cNvSpPr txBox="1"/>
          <p:nvPr/>
        </p:nvSpPr>
        <p:spPr>
          <a:xfrm>
            <a:off x="6309360" y="2286000"/>
            <a:ext cx="2194560" cy="914400"/>
          </a:xfrm>
          <a:prstGeom prst="rect">
            <a:avLst/>
          </a:prstGeom>
          <a:noFill/>
          <a:ln/>
        </p:spPr>
        <p:txBody>
          <a:bodyPr wrap="square" lIns="0" tIns="0" rIns="0" bIns="0" rtlCol="0" anchor="t"/>
          <a:lstStyle/>
          <a:p>
            <a:pPr marL="0" indent="0">
              <a:buNone/>
            </a:pPr>
            <a:r>
              <a:rPr lang="en-US" sz="1400" dirty="0">
                <a:solidFill>
                  <a:schemeClr val="tx2"/>
                </a:solidFill>
              </a:rPr>
              <a:t>Share of the 0 to 255 scale used by the image</a:t>
            </a:r>
            <a:endParaRPr lang="en-US" sz="1400" dirty="0"/>
          </a:p>
        </p:txBody>
      </p:sp>
      <p:sp>
        <p:nvSpPr>
          <p:cNvPr id="12" name="Takeaway"/>
          <p:cNvSpPr txBox="1"/>
          <p:nvPr/>
        </p:nvSpPr>
        <p:spPr>
          <a:xfrm>
            <a:off x="457200" y="3657600"/>
            <a:ext cx="8229600" cy="594360"/>
          </a:xfrm>
          <a:prstGeom prst="rect">
            <a:avLst/>
          </a:prstGeom>
          <a:noFill/>
          <a:ln/>
        </p:spPr>
        <p:txBody>
          <a:bodyPr wrap="square" lIns="0" tIns="0" rIns="0" bIns="0" rtlCol="0" anchor="t"/>
          <a:lstStyle/>
          <a:p>
            <a:pPr marL="0" indent="0">
              <a:buNone/>
            </a:pPr>
            <a:r>
              <a:rPr lang="en-US" sz="1600" dirty="0">
                <a:solidFill>
                  <a:schemeClr val="tx1"/>
                </a:solidFill>
              </a:rPr>
              <a:t>Larger differences between neighbouring pixels let the eye separate edges, texture and shading that were lost before.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Problem 2: The Calculation</a:t>
            </a:r>
            <a:endParaRPr lang="en-US" sz="3400" dirty="0"/>
          </a:p>
        </p:txBody>
      </p:sp>
      <p:sp>
        <p:nvSpPr>
          <p:cNvPr id="3" name="Given card"/>
          <p:cNvSpPr/>
          <p:nvPr/>
        </p:nvSpPr>
        <p:spPr>
          <a:xfrm>
            <a:off x="457200" y="1188720"/>
            <a:ext cx="2926080" cy="3291840"/>
          </a:xfrm>
          <a:prstGeom prst="roundRect">
            <a:avLst>
              <a:gd name="adj" fmla="val 3125"/>
            </a:avLst>
          </a:prstGeom>
          <a:solidFill>
            <a:schemeClr val="bg2"/>
          </a:solidFill>
          <a:ln/>
        </p:spPr>
      </p:sp>
      <p:sp>
        <p:nvSpPr>
          <p:cNvPr id="4" name="Given head"/>
          <p:cNvSpPr txBox="1"/>
          <p:nvPr/>
        </p:nvSpPr>
        <p:spPr>
          <a:xfrm>
            <a:off x="685800" y="1371600"/>
            <a:ext cx="2468880" cy="320040"/>
          </a:xfrm>
          <a:prstGeom prst="rect">
            <a:avLst/>
          </a:prstGeom>
          <a:noFill/>
          <a:ln/>
        </p:spPr>
        <p:txBody>
          <a:bodyPr wrap="square" lIns="0" tIns="0" rIns="0" bIns="0" rtlCol="0" anchor="t"/>
          <a:lstStyle/>
          <a:p>
            <a:pPr marL="0" indent="0">
              <a:buNone/>
            </a:pPr>
            <a:r>
              <a:rPr lang="en-US" sz="1800" b="1" dirty="0">
                <a:solidFill>
                  <a:schemeClr val="tx1"/>
                </a:solidFill>
              </a:rPr>
              <a:t>Given</a:t>
            </a:r>
            <a:endParaRPr lang="en-US" sz="1800" dirty="0"/>
          </a:p>
        </p:txBody>
      </p:sp>
      <p:sp>
        <p:nvSpPr>
          <p:cNvPr id="5" name="Given values"/>
          <p:cNvSpPr txBox="1"/>
          <p:nvPr/>
        </p:nvSpPr>
        <p:spPr>
          <a:xfrm>
            <a:off x="685800" y="1783080"/>
            <a:ext cx="2468880" cy="1645920"/>
          </a:xfrm>
          <a:prstGeom prst="rect">
            <a:avLst/>
          </a:prstGeom>
          <a:noFill/>
          <a:ln/>
        </p:spPr>
        <p:txBody>
          <a:bodyPr wrap="square" lIns="0" tIns="0" rIns="0" bIns="0" rtlCol="0" anchor="t"/>
          <a:lstStyle/>
          <a:p>
            <a:pPr marL="0" indent="0">
              <a:spcAft>
                <a:spcPts val="600"/>
              </a:spcAft>
              <a:buNone/>
            </a:pPr>
            <a:r>
              <a:rPr lang="en-US" sz="1600" dirty="0">
                <a:solidFill>
                  <a:schemeClr val="tx2"/>
                </a:solidFill>
              </a:rPr>
              <a:t>r</a:t>
            </a:r>
            <a:r>
              <a:rPr lang="en-US" sz="1600" baseline="-40000" dirty="0">
                <a:solidFill>
                  <a:schemeClr val="tx2"/>
                </a:solidFill>
              </a:rPr>
              <a:t>min</a:t>
            </a:r>
            <a:r>
              <a:rPr lang="en-US" sz="1600" dirty="0">
                <a:solidFill>
                  <a:schemeClr val="tx2"/>
                </a:solidFill>
              </a:rPr>
              <a:t> = 40</a:t>
            </a:r>
            <a:endParaRPr lang="en-US" sz="1600" dirty="0"/>
          </a:p>
          <a:p>
            <a:pPr marL="0" indent="0">
              <a:spcAft>
                <a:spcPts val="600"/>
              </a:spcAft>
              <a:buNone/>
            </a:pPr>
            <a:r>
              <a:rPr lang="en-US" sz="1600" dirty="0">
                <a:solidFill>
                  <a:schemeClr val="tx2"/>
                </a:solidFill>
              </a:rPr>
              <a:t>r</a:t>
            </a:r>
            <a:r>
              <a:rPr lang="en-US" sz="1600" baseline="-40000" dirty="0">
                <a:solidFill>
                  <a:schemeClr val="tx2"/>
                </a:solidFill>
              </a:rPr>
              <a:t>max</a:t>
            </a:r>
            <a:r>
              <a:rPr lang="en-US" sz="1600" dirty="0">
                <a:solidFill>
                  <a:schemeClr val="tx2"/>
                </a:solidFill>
              </a:rPr>
              <a:t> = 160</a:t>
            </a:r>
            <a:endParaRPr lang="en-US" sz="1600" dirty="0"/>
          </a:p>
          <a:p>
            <a:pPr marL="0" indent="0">
              <a:spcAft>
                <a:spcPts val="600"/>
              </a:spcAft>
              <a:buNone/>
            </a:pPr>
            <a:r>
              <a:rPr lang="en-US" sz="1600" dirty="0">
                <a:solidFill>
                  <a:schemeClr val="tx2"/>
                </a:solidFill>
              </a:rPr>
              <a:t>Output range: 0 to 255</a:t>
            </a:r>
            <a:endParaRPr lang="en-US" sz="1600" dirty="0"/>
          </a:p>
          <a:p>
            <a:pPr marL="0" indent="0">
              <a:spcAft>
                <a:spcPts val="600"/>
              </a:spcAft>
              <a:buNone/>
            </a:pPr>
            <a:r>
              <a:rPr lang="en-US" sz="1600" dirty="0">
                <a:solidFill>
                  <a:schemeClr val="tx2"/>
                </a:solidFill>
              </a:rPr>
              <a:t>Input pixel: r = 100</a:t>
            </a:r>
            <a:endParaRPr lang="en-US" sz="1600" dirty="0"/>
          </a:p>
        </p:txBody>
      </p:sp>
      <p:sp>
        <p:nvSpPr>
          <p:cNvPr id="6" name="Rounding note"/>
          <p:cNvSpPr txBox="1"/>
          <p:nvPr/>
        </p:nvSpPr>
        <p:spPr>
          <a:xfrm>
            <a:off x="685800" y="3611880"/>
            <a:ext cx="2468880" cy="685800"/>
          </a:xfrm>
          <a:prstGeom prst="rect">
            <a:avLst/>
          </a:prstGeom>
          <a:noFill/>
          <a:ln/>
        </p:spPr>
        <p:txBody>
          <a:bodyPr wrap="square" lIns="0" tIns="0" rIns="0" bIns="0" rtlCol="0" anchor="t"/>
          <a:lstStyle/>
          <a:p>
            <a:pPr marL="0" indent="0">
              <a:buNone/>
            </a:pPr>
            <a:r>
              <a:rPr lang="en-US" sz="1200" dirty="0">
                <a:solidFill>
                  <a:schemeClr val="tx2"/>
                </a:solidFill>
              </a:rPr>
              <a:t>Truncating gives 127; rounding to the nearest level gives 128.</a:t>
            </a:r>
            <a:endParaRPr lang="en-US" sz="1200" dirty="0"/>
          </a:p>
        </p:txBody>
      </p:sp>
      <p:sp>
        <p:nvSpPr>
          <p:cNvPr id="7" name="Step card 1"/>
          <p:cNvSpPr/>
          <p:nvPr/>
        </p:nvSpPr>
        <p:spPr>
          <a:xfrm>
            <a:off x="3657600" y="1188720"/>
            <a:ext cx="5029200" cy="822960"/>
          </a:xfrm>
          <a:prstGeom prst="roundRect">
            <a:avLst>
              <a:gd name="adj" fmla="val 11111"/>
            </a:avLst>
          </a:prstGeom>
          <a:solidFill>
            <a:schemeClr val="bg2"/>
          </a:solidFill>
          <a:ln/>
        </p:spPr>
      </p:sp>
      <p:sp>
        <p:nvSpPr>
          <p:cNvPr id="8" name="Step label 1"/>
          <p:cNvSpPr txBox="1"/>
          <p:nvPr/>
        </p:nvSpPr>
        <p:spPr>
          <a:xfrm>
            <a:off x="3886200" y="1280160"/>
            <a:ext cx="4572000" cy="228600"/>
          </a:xfrm>
          <a:prstGeom prst="rect">
            <a:avLst/>
          </a:prstGeom>
          <a:noFill/>
          <a:ln/>
        </p:spPr>
        <p:txBody>
          <a:bodyPr wrap="square" lIns="0" tIns="0" rIns="0" bIns="0" rtlCol="0" anchor="t"/>
          <a:lstStyle/>
          <a:p>
            <a:pPr marL="0" indent="0">
              <a:buNone/>
            </a:pPr>
            <a:r>
              <a:rPr lang="en-US" sz="1200" b="1" dirty="0">
                <a:solidFill>
                  <a:schemeClr val="accent2"/>
                </a:solidFill>
              </a:rPr>
              <a:t>STEP 1  ·  SUBSTITUTE</a:t>
            </a:r>
            <a:endParaRPr lang="en-US" sz="1200" dirty="0"/>
          </a:p>
        </p:txBody>
      </p:sp>
      <p:sp>
        <p:nvSpPr>
          <p:cNvPr id="9" name="Step formula 1"/>
          <p:cNvSpPr txBox="1"/>
          <p:nvPr/>
        </p:nvSpPr>
        <p:spPr>
          <a:xfrm>
            <a:off x="3886200" y="1536192"/>
            <a:ext cx="4572000" cy="365760"/>
          </a:xfrm>
          <a:prstGeom prst="rect">
            <a:avLst/>
          </a:prstGeom>
          <a:noFill/>
          <a:ln/>
        </p:spPr>
        <p:txBody>
          <a:bodyPr wrap="square" lIns="0" tIns="0" rIns="0" bIns="0" rtlCol="0" anchor="t"/>
          <a:lstStyle/>
          <a:p>
            <a:pPr marL="0" indent="0">
              <a:buNone/>
            </a:pPr>
            <a:r>
              <a:rPr lang="en-US" sz="2000" b="1" dirty="0">
                <a:solidFill>
                  <a:schemeClr val="tx1"/>
                </a:solidFill>
              </a:rPr>
              <a:t>s = (100 − 40) / (160 − 40) × 255</a:t>
            </a:r>
            <a:endParaRPr lang="en-US" sz="2000" dirty="0"/>
          </a:p>
        </p:txBody>
      </p:sp>
      <p:sp>
        <p:nvSpPr>
          <p:cNvPr id="10" name="Step card 2"/>
          <p:cNvSpPr/>
          <p:nvPr/>
        </p:nvSpPr>
        <p:spPr>
          <a:xfrm>
            <a:off x="3657600" y="2148840"/>
            <a:ext cx="5029200" cy="822960"/>
          </a:xfrm>
          <a:prstGeom prst="roundRect">
            <a:avLst>
              <a:gd name="adj" fmla="val 11111"/>
            </a:avLst>
          </a:prstGeom>
          <a:solidFill>
            <a:schemeClr val="bg2"/>
          </a:solidFill>
          <a:ln/>
        </p:spPr>
      </p:sp>
      <p:sp>
        <p:nvSpPr>
          <p:cNvPr id="11" name="Step label 2"/>
          <p:cNvSpPr txBox="1"/>
          <p:nvPr/>
        </p:nvSpPr>
        <p:spPr>
          <a:xfrm>
            <a:off x="3886200" y="2240280"/>
            <a:ext cx="4572000" cy="228600"/>
          </a:xfrm>
          <a:prstGeom prst="rect">
            <a:avLst/>
          </a:prstGeom>
          <a:noFill/>
          <a:ln/>
        </p:spPr>
        <p:txBody>
          <a:bodyPr wrap="square" lIns="0" tIns="0" rIns="0" bIns="0" rtlCol="0" anchor="t"/>
          <a:lstStyle/>
          <a:p>
            <a:pPr marL="0" indent="0">
              <a:buNone/>
            </a:pPr>
            <a:r>
              <a:rPr lang="en-US" sz="1200" b="1" dirty="0">
                <a:solidFill>
                  <a:schemeClr val="accent2"/>
                </a:solidFill>
              </a:rPr>
              <a:t>STEP 2  ·  SIMPLIFY</a:t>
            </a:r>
            <a:endParaRPr lang="en-US" sz="1200" dirty="0"/>
          </a:p>
        </p:txBody>
      </p:sp>
      <p:sp>
        <p:nvSpPr>
          <p:cNvPr id="12" name="Step formula 2"/>
          <p:cNvSpPr txBox="1"/>
          <p:nvPr/>
        </p:nvSpPr>
        <p:spPr>
          <a:xfrm>
            <a:off x="3886200" y="2496312"/>
            <a:ext cx="4572000" cy="365760"/>
          </a:xfrm>
          <a:prstGeom prst="rect">
            <a:avLst/>
          </a:prstGeom>
          <a:noFill/>
          <a:ln/>
        </p:spPr>
        <p:txBody>
          <a:bodyPr wrap="square" lIns="0" tIns="0" rIns="0" bIns="0" rtlCol="0" anchor="t"/>
          <a:lstStyle/>
          <a:p>
            <a:pPr marL="0" indent="0">
              <a:buNone/>
            </a:pPr>
            <a:r>
              <a:rPr lang="en-US" sz="2000" b="1" dirty="0">
                <a:solidFill>
                  <a:schemeClr val="tx1"/>
                </a:solidFill>
              </a:rPr>
              <a:t>s = 60 / 120 × 255 = 0.5 × 255</a:t>
            </a:r>
            <a:endParaRPr lang="en-US" sz="2000" dirty="0"/>
          </a:p>
        </p:txBody>
      </p:sp>
      <p:sp>
        <p:nvSpPr>
          <p:cNvPr id="13" name="Result card"/>
          <p:cNvSpPr/>
          <p:nvPr/>
        </p:nvSpPr>
        <p:spPr>
          <a:xfrm>
            <a:off x="3657600" y="3108960"/>
            <a:ext cx="5029200" cy="1371600"/>
          </a:xfrm>
          <a:prstGeom prst="roundRect">
            <a:avLst>
              <a:gd name="adj" fmla="val 6667"/>
            </a:avLst>
          </a:prstGeom>
          <a:solidFill>
            <a:schemeClr val="tx1"/>
          </a:solidFill>
          <a:ln/>
        </p:spPr>
      </p:sp>
      <p:sp>
        <p:nvSpPr>
          <p:cNvPr id="14" name="Result value"/>
          <p:cNvSpPr txBox="1"/>
          <p:nvPr/>
        </p:nvSpPr>
        <p:spPr>
          <a:xfrm>
            <a:off x="3886200" y="3246120"/>
            <a:ext cx="4572000" cy="685800"/>
          </a:xfrm>
          <a:prstGeom prst="rect">
            <a:avLst/>
          </a:prstGeom>
          <a:noFill/>
          <a:ln/>
        </p:spPr>
        <p:txBody>
          <a:bodyPr wrap="square" lIns="0" tIns="0" rIns="0" bIns="0" rtlCol="0" anchor="ctr"/>
          <a:lstStyle/>
          <a:p>
            <a:pPr marL="0" indent="0">
              <a:buNone/>
            </a:pPr>
            <a:r>
              <a:rPr lang="en-US" sz="4000" b="1" dirty="0">
                <a:solidFill>
                  <a:schemeClr val="accent1"/>
                </a:solidFill>
              </a:rPr>
              <a:t>127.5 ≈ 128</a:t>
            </a:r>
            <a:endParaRPr lang="en-US" sz="4000" dirty="0"/>
          </a:p>
        </p:txBody>
      </p:sp>
      <p:sp>
        <p:nvSpPr>
          <p:cNvPr id="15" name="Result caption"/>
          <p:cNvSpPr txBox="1"/>
          <p:nvPr/>
        </p:nvSpPr>
        <p:spPr>
          <a:xfrm>
            <a:off x="3886200" y="3977640"/>
            <a:ext cx="4572000" cy="411480"/>
          </a:xfrm>
          <a:prstGeom prst="rect">
            <a:avLst/>
          </a:prstGeom>
          <a:noFill/>
          <a:ln/>
        </p:spPr>
        <p:txBody>
          <a:bodyPr wrap="square" lIns="0" tIns="0" rIns="0" bIns="0" rtlCol="0" anchor="t"/>
          <a:lstStyle/>
          <a:p>
            <a:pPr marL="0" indent="0">
              <a:buNone/>
            </a:pPr>
            <a:r>
              <a:rPr lang="en-US" sz="1400" dirty="0">
                <a:solidFill>
                  <a:schemeClr val="bg1"/>
                </a:solidFill>
              </a:rPr>
              <a:t>Output for input pixel 100, rounded to the nearest level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Input–Output Mapping</a:t>
            </a:r>
            <a:endParaRPr lang="en-US" sz="3400" dirty="0"/>
          </a:p>
        </p:txBody>
      </p:sp>
      <p:sp>
        <p:nvSpPr>
          <p:cNvPr id="3" name="Mapping notes"/>
          <p:cNvSpPr txBox="1"/>
          <p:nvPr/>
        </p:nvSpPr>
        <p:spPr>
          <a:xfrm>
            <a:off x="457200" y="132588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Below 40: output is 0 (black)</a:t>
            </a:r>
            <a:endParaRPr lang="en-US" sz="1600" dirty="0"/>
          </a:p>
          <a:p>
            <a:pPr marL="342900" indent="-342900">
              <a:spcAft>
                <a:spcPts val="1000"/>
              </a:spcAft>
              <a:buSzPct val="100000"/>
              <a:buChar char="•"/>
            </a:pPr>
            <a:r>
              <a:rPr lang="en-US" sz="1600" dirty="0">
                <a:solidFill>
                  <a:schemeClr val="tx2"/>
                </a:solidFill>
              </a:rPr>
              <a:t>40 to 160: straight line with slope 2.125</a:t>
            </a:r>
            <a:endParaRPr lang="en-US" sz="1600" dirty="0"/>
          </a:p>
          <a:p>
            <a:pPr marL="342900" indent="-342900">
              <a:spcAft>
                <a:spcPts val="1000"/>
              </a:spcAft>
              <a:buSzPct val="100000"/>
              <a:buChar char="•"/>
            </a:pPr>
            <a:r>
              <a:rPr lang="en-US" sz="1600" dirty="0">
                <a:solidFill>
                  <a:schemeClr val="tx2"/>
                </a:solidFill>
              </a:rPr>
              <a:t>Above 160: output is 255 (white)</a:t>
            </a:r>
            <a:endParaRPr lang="en-US" sz="1600" dirty="0"/>
          </a:p>
          <a:p>
            <a:pPr marL="342900" indent="-342900">
              <a:spcAft>
                <a:spcPts val="1000"/>
              </a:spcAft>
              <a:buSzPct val="100000"/>
              <a:buChar char="•"/>
            </a:pPr>
            <a:r>
              <a:rPr lang="en-US" sz="1600" dirty="0">
                <a:solidFill>
                  <a:schemeClr val="tx2"/>
                </a:solidFill>
              </a:rPr>
              <a:t>Pixel 100 maps to 127.5, the mid-gray</a:t>
            </a:r>
            <a:endParaRPr lang="en-US" sz="1600" dirty="0"/>
          </a:p>
        </p:txBody>
      </p:sp>
      <p:graphicFrame>
        <p:nvGraphicFramePr>
          <p:cNvPr id="4" name="Chart 0"/>
          <p:cNvGraphicFramePr/>
          <p:nvPr/>
        </p:nvGraphicFramePr>
        <p:xfrm>
          <a:off x="3657600" y="109728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tx1"/>
                </a:solidFill>
              </a:rPr>
              <a:t>Advantages and Limitations</a:t>
            </a:r>
            <a:endParaRPr lang="en-US" sz="3400" dirty="0"/>
          </a:p>
        </p:txBody>
      </p:sp>
      <p:sp>
        <p:nvSpPr>
          <p:cNvPr id="3" name="Advantages card"/>
          <p:cNvSpPr/>
          <p:nvPr/>
        </p:nvSpPr>
        <p:spPr>
          <a:xfrm>
            <a:off x="457200" y="1188720"/>
            <a:ext cx="3977640" cy="3291840"/>
          </a:xfrm>
          <a:prstGeom prst="roundRect">
            <a:avLst>
              <a:gd name="adj" fmla="val 2778"/>
            </a:avLst>
          </a:prstGeom>
          <a:solidFill>
            <a:schemeClr val="bg2"/>
          </a:solidFill>
          <a:ln/>
        </p:spPr>
      </p:sp>
      <p:sp>
        <p:nvSpPr>
          <p:cNvPr id="4" name="Advantages badge"/>
          <p:cNvSpPr/>
          <p:nvPr/>
        </p:nvSpPr>
        <p:spPr>
          <a:xfrm>
            <a:off x="685800" y="1371600"/>
            <a:ext cx="411480" cy="41148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a:t>
            </a:r>
            <a:endParaRPr lang="en-US" sz="1800" dirty="0"/>
          </a:p>
        </p:txBody>
      </p:sp>
      <p:sp>
        <p:nvSpPr>
          <p:cNvPr id="5" name="Advantages head"/>
          <p:cNvSpPr txBox="1"/>
          <p:nvPr/>
        </p:nvSpPr>
        <p:spPr>
          <a:xfrm>
            <a:off x="1280160" y="1371600"/>
            <a:ext cx="2926080" cy="411480"/>
          </a:xfrm>
          <a:prstGeom prst="rect">
            <a:avLst/>
          </a:prstGeom>
          <a:noFill/>
          <a:ln/>
        </p:spPr>
        <p:txBody>
          <a:bodyPr wrap="square" lIns="0" tIns="0" rIns="0" bIns="0" rtlCol="0" anchor="ctr"/>
          <a:lstStyle/>
          <a:p>
            <a:pPr marL="0" indent="0">
              <a:buNone/>
            </a:pPr>
            <a:r>
              <a:rPr lang="en-US" sz="2000" b="1" dirty="0">
                <a:solidFill>
                  <a:schemeClr val="tx1"/>
                </a:solidFill>
              </a:rPr>
              <a:t>Advantages</a:t>
            </a:r>
            <a:endParaRPr lang="en-US" sz="2000" dirty="0"/>
          </a:p>
        </p:txBody>
      </p:sp>
      <p:sp>
        <p:nvSpPr>
          <p:cNvPr id="6" name="Advantages list"/>
          <p:cNvSpPr txBox="1"/>
          <p:nvPr/>
        </p:nvSpPr>
        <p:spPr>
          <a:xfrm>
            <a:off x="685800" y="2011680"/>
            <a:ext cx="3520440"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Simple, linear and very fast to compute</a:t>
            </a:r>
            <a:endParaRPr lang="en-US" sz="1600" dirty="0"/>
          </a:p>
          <a:p>
            <a:pPr marL="342900" indent="-342900">
              <a:spcAft>
                <a:spcPts val="1000"/>
              </a:spcAft>
              <a:buSzPct val="100000"/>
              <a:buChar char="•"/>
            </a:pPr>
            <a:r>
              <a:rPr lang="en-US" sz="1600" dirty="0">
                <a:solidFill>
                  <a:schemeClr val="tx2"/>
                </a:solidFill>
              </a:rPr>
              <a:t>Preserves histogram shape and pixel order</a:t>
            </a:r>
            <a:endParaRPr lang="en-US" sz="1600" dirty="0"/>
          </a:p>
          <a:p>
            <a:pPr marL="342900" indent="-342900">
              <a:spcAft>
                <a:spcPts val="1000"/>
              </a:spcAft>
              <a:buSzPct val="100000"/>
              <a:buChar char="•"/>
            </a:pPr>
            <a:r>
              <a:rPr lang="en-US" sz="1600" dirty="0">
                <a:solidFill>
                  <a:schemeClr val="tx2"/>
                </a:solidFill>
              </a:rPr>
              <a:t>Needs only the minimum and maximum intensity</a:t>
            </a:r>
            <a:endParaRPr lang="en-US" sz="1600" dirty="0"/>
          </a:p>
          <a:p>
            <a:pPr marL="342900" indent="-342900">
              <a:spcAft>
                <a:spcPts val="1000"/>
              </a:spcAft>
              <a:buSzPct val="100000"/>
              <a:buChar char="•"/>
            </a:pPr>
            <a:r>
              <a:rPr lang="en-US" sz="1600" dirty="0">
                <a:solidFill>
                  <a:schemeClr val="tx2"/>
                </a:solidFill>
              </a:rPr>
              <a:t>Works well on hazy, low-contrast images</a:t>
            </a:r>
            <a:endParaRPr lang="en-US" sz="1600" dirty="0"/>
          </a:p>
        </p:txBody>
      </p:sp>
      <p:sp>
        <p:nvSpPr>
          <p:cNvPr id="7" name="Limitations card"/>
          <p:cNvSpPr/>
          <p:nvPr/>
        </p:nvSpPr>
        <p:spPr>
          <a:xfrm>
            <a:off x="4709160" y="1188720"/>
            <a:ext cx="3977640" cy="3291840"/>
          </a:xfrm>
          <a:prstGeom prst="roundRect">
            <a:avLst>
              <a:gd name="adj" fmla="val 2778"/>
            </a:avLst>
          </a:prstGeom>
          <a:solidFill>
            <a:schemeClr val="bg2"/>
          </a:solidFill>
          <a:ln/>
        </p:spPr>
      </p:sp>
      <p:sp>
        <p:nvSpPr>
          <p:cNvPr id="8" name="Limitations badge"/>
          <p:cNvSpPr/>
          <p:nvPr/>
        </p:nvSpPr>
        <p:spPr>
          <a:xfrm>
            <a:off x="4937760" y="1371600"/>
            <a:ext cx="411480" cy="411480"/>
          </a:xfrm>
          <a:prstGeom prst="ellipse">
            <a:avLst/>
          </a:prstGeom>
          <a:solidFill>
            <a:schemeClr val="accent4"/>
          </a:solidFill>
          <a:ln/>
        </p:spPr>
        <p:txBody>
          <a:bodyPr wrap="square" lIns="0" tIns="0" rIns="0" bIns="0" rtlCol="0" anchor="ctr"/>
          <a:lstStyle/>
          <a:p>
            <a:pPr marL="0" indent="0" algn="ctr">
              <a:buNone/>
            </a:pPr>
            <a:r>
              <a:rPr lang="en-US" sz="1800" b="1" dirty="0">
                <a:solidFill>
                  <a:schemeClr val="bg1"/>
                </a:solidFill>
              </a:rPr>
              <a:t>!</a:t>
            </a:r>
            <a:endParaRPr lang="en-US" sz="1800" dirty="0"/>
          </a:p>
        </p:txBody>
      </p:sp>
      <p:sp>
        <p:nvSpPr>
          <p:cNvPr id="9" name="Limitations head"/>
          <p:cNvSpPr txBox="1"/>
          <p:nvPr/>
        </p:nvSpPr>
        <p:spPr>
          <a:xfrm>
            <a:off x="5532120" y="1371600"/>
            <a:ext cx="2926080" cy="411480"/>
          </a:xfrm>
          <a:prstGeom prst="rect">
            <a:avLst/>
          </a:prstGeom>
          <a:noFill/>
          <a:ln/>
        </p:spPr>
        <p:txBody>
          <a:bodyPr wrap="square" lIns="0" tIns="0" rIns="0" bIns="0" rtlCol="0" anchor="ctr"/>
          <a:lstStyle/>
          <a:p>
            <a:pPr marL="0" indent="0">
              <a:buNone/>
            </a:pPr>
            <a:r>
              <a:rPr lang="en-US" sz="2000" b="1" dirty="0">
                <a:solidFill>
                  <a:schemeClr val="tx1"/>
                </a:solidFill>
              </a:rPr>
              <a:t>Limitations</a:t>
            </a:r>
            <a:endParaRPr lang="en-US" sz="2000" dirty="0"/>
          </a:p>
        </p:txBody>
      </p:sp>
      <p:sp>
        <p:nvSpPr>
          <p:cNvPr id="10" name="Limitations list"/>
          <p:cNvSpPr txBox="1"/>
          <p:nvPr/>
        </p:nvSpPr>
        <p:spPr>
          <a:xfrm>
            <a:off x="4937760" y="2011680"/>
            <a:ext cx="3520440"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Outlier pixels (0 or 255) cancel the effect; use percentile limits</a:t>
            </a:r>
            <a:endParaRPr lang="en-US" sz="1600" dirty="0"/>
          </a:p>
          <a:p>
            <a:pPr marL="342900" indent="-342900">
              <a:spcAft>
                <a:spcPts val="1000"/>
              </a:spcAft>
              <a:buSzPct val="100000"/>
              <a:buChar char="•"/>
            </a:pPr>
            <a:r>
              <a:rPr lang="en-US" sz="1600" dirty="0">
                <a:solidFill>
                  <a:schemeClr val="tx2"/>
                </a:solidFill>
              </a:rPr>
              <a:t>Amplifies noise along with the signal</a:t>
            </a:r>
            <a:endParaRPr lang="en-US" sz="1600" dirty="0"/>
          </a:p>
          <a:p>
            <a:pPr marL="342900" indent="-342900">
              <a:spcAft>
                <a:spcPts val="1000"/>
              </a:spcAft>
              <a:buSzPct val="100000"/>
              <a:buChar char="•"/>
            </a:pPr>
            <a:r>
              <a:rPr lang="en-US" sz="1600" dirty="0">
                <a:solidFill>
                  <a:schemeClr val="tx2"/>
                </a:solidFill>
              </a:rPr>
              <a:t>Leaves gaps in the stretched histogram</a:t>
            </a:r>
            <a:endParaRPr lang="en-US" sz="1600" dirty="0"/>
          </a:p>
          <a:p>
            <a:pPr marL="342900" indent="-342900">
              <a:spcAft>
                <a:spcPts val="1000"/>
              </a:spcAft>
              <a:buSzPct val="100000"/>
              <a:buChar char="•"/>
            </a:pPr>
            <a:r>
              <a:rPr lang="en-US" sz="1600" dirty="0">
                <a:solidFill>
                  <a:schemeClr val="tx2"/>
                </a:solidFill>
              </a:rPr>
              <a:t>No gain if the image already spans 0 to 255</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400" b="1" dirty="0">
                <a:solidFill>
                  <a:schemeClr val="bg1"/>
                </a:solidFill>
              </a:rPr>
              <a:t>Conclusion</a:t>
            </a:r>
            <a:endParaRPr lang="en-US" sz="3400" dirty="0"/>
          </a:p>
        </p:txBody>
      </p:sp>
      <p:sp>
        <p:nvSpPr>
          <p:cNvPr id="3" name="Takeaway badge 1"/>
          <p:cNvSpPr/>
          <p:nvPr/>
        </p:nvSpPr>
        <p:spPr>
          <a:xfrm>
            <a:off x="457200" y="132588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4" name="Takeaway 1"/>
          <p:cNvSpPr txBox="1"/>
          <p:nvPr/>
        </p:nvSpPr>
        <p:spPr>
          <a:xfrm>
            <a:off x="1188720" y="1280160"/>
            <a:ext cx="7498080" cy="731520"/>
          </a:xfrm>
          <a:prstGeom prst="rect">
            <a:avLst/>
          </a:prstGeom>
          <a:noFill/>
          <a:ln/>
        </p:spPr>
        <p:txBody>
          <a:bodyPr wrap="square" lIns="0" tIns="0" rIns="0" bIns="0" rtlCol="0" anchor="ctr"/>
          <a:lstStyle/>
          <a:p>
            <a:pPr marL="0" indent="0">
              <a:buNone/>
            </a:pPr>
            <a:r>
              <a:rPr lang="en-US" sz="1800" dirty="0">
                <a:solidFill>
                  <a:schemeClr val="bg1"/>
                </a:solidFill>
              </a:rPr>
              <a:t>Contrast stretching linearly maps the used intensity band to the full 0 to 255 scale.</a:t>
            </a:r>
            <a:endParaRPr lang="en-US" sz="1800" dirty="0"/>
          </a:p>
        </p:txBody>
      </p:sp>
      <p:sp>
        <p:nvSpPr>
          <p:cNvPr id="5" name="Takeaway badge 2"/>
          <p:cNvSpPr/>
          <p:nvPr/>
        </p:nvSpPr>
        <p:spPr>
          <a:xfrm>
            <a:off x="457200" y="233172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6" name="Takeaway 2"/>
          <p:cNvSpPr txBox="1"/>
          <p:nvPr/>
        </p:nvSpPr>
        <p:spPr>
          <a:xfrm>
            <a:off x="1188720" y="2286000"/>
            <a:ext cx="7498080" cy="731520"/>
          </a:xfrm>
          <a:prstGeom prst="rect">
            <a:avLst/>
          </a:prstGeom>
          <a:noFill/>
          <a:ln/>
        </p:spPr>
        <p:txBody>
          <a:bodyPr wrap="square" lIns="0" tIns="0" rIns="0" bIns="0" rtlCol="0" anchor="ctr"/>
          <a:lstStyle/>
          <a:p>
            <a:pPr marL="0" indent="0">
              <a:buNone/>
            </a:pPr>
            <a:r>
              <a:rPr lang="en-US" sz="1800" dirty="0">
                <a:solidFill>
                  <a:schemeClr val="bg1"/>
                </a:solidFill>
              </a:rPr>
              <a:t>Problem 1: spreading gray levels makes small differences visible in a washed-out image.</a:t>
            </a:r>
            <a:endParaRPr lang="en-US" sz="1800" dirty="0"/>
          </a:p>
        </p:txBody>
      </p:sp>
      <p:sp>
        <p:nvSpPr>
          <p:cNvPr id="7" name="Takeaway badge 3"/>
          <p:cNvSpPr/>
          <p:nvPr/>
        </p:nvSpPr>
        <p:spPr>
          <a:xfrm>
            <a:off x="457200" y="333756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8" name="Takeaway 3"/>
          <p:cNvSpPr txBox="1"/>
          <p:nvPr/>
        </p:nvSpPr>
        <p:spPr>
          <a:xfrm>
            <a:off x="1188720" y="3291840"/>
            <a:ext cx="7498080" cy="731520"/>
          </a:xfrm>
          <a:prstGeom prst="rect">
            <a:avLst/>
          </a:prstGeom>
          <a:noFill/>
          <a:ln/>
        </p:spPr>
        <p:txBody>
          <a:bodyPr wrap="square" lIns="0" tIns="0" rIns="0" bIns="0" rtlCol="0" anchor="ctr"/>
          <a:lstStyle/>
          <a:p>
            <a:pPr marL="0" indent="0">
              <a:buNone/>
            </a:pPr>
            <a:r>
              <a:rPr lang="en-US" sz="1800" dirty="0">
                <a:solidFill>
                  <a:schemeClr val="bg1"/>
                </a:solidFill>
              </a:rPr>
              <a:t>Problem 2: with minimum 40 and maximum 160, input pixel 100 becomes 127.5 ≈ 128.</a:t>
            </a:r>
            <a:endParaRPr lang="en-US" sz="1800" dirty="0"/>
          </a:p>
        </p:txBody>
      </p:sp>
      <p:sp>
        <p:nvSpPr>
          <p:cNvPr id="9" name="Closing"/>
          <p:cNvSpPr txBox="1"/>
          <p:nvPr/>
        </p:nvSpPr>
        <p:spPr>
          <a:xfrm>
            <a:off x="457200" y="4343400"/>
            <a:ext cx="3657600" cy="320040"/>
          </a:xfrm>
          <a:prstGeom prst="rect">
            <a:avLst/>
          </a:prstGeom>
          <a:noFill/>
          <a:ln/>
        </p:spPr>
        <p:txBody>
          <a:bodyPr wrap="square" lIns="0" tIns="0" rIns="0" bIns="0" rtlCol="0" anchor="t"/>
          <a:lstStyle/>
          <a:p>
            <a:pPr marL="0" indent="0">
              <a:buNone/>
            </a:pPr>
            <a:r>
              <a:rPr lang="en-US" sz="1800" b="1" dirty="0">
                <a:solidFill>
                  <a:schemeClr val="accent1"/>
                </a:solidFill>
              </a:rPr>
              <a:t>Thank you</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Intensity Ramp">
  <a:themeElements>
    <a:clrScheme name="Intensity Ramp">
      <a:dk1>
        <a:srgbClr val="161B26"/>
      </a:dk1>
      <a:lt1>
        <a:srgbClr val="FFFFFF"/>
      </a:lt1>
      <a:dk2>
        <a:srgbClr val="2A3347"/>
      </a:dk2>
      <a:lt2>
        <a:srgbClr val="EEF1F6"/>
      </a:lt2>
      <a:accent1>
        <a:srgbClr val="F2A516"/>
      </a:accent1>
      <a:accent2>
        <a:srgbClr val="11857B"/>
      </a:accent2>
      <a:accent3>
        <a:srgbClr val="7C8AA5"/>
      </a:accent3>
      <a:accent4>
        <a:srgbClr val="E4572E"/>
      </a:accent4>
      <a:accent5>
        <a:srgbClr val="4A6FA5"/>
      </a:accent5>
      <a:accent6>
        <a:srgbClr val="A3B1C9"/>
      </a:accent6>
      <a:hlink>
        <a:srgbClr val="1F6FB5"/>
      </a:hlink>
      <a:folHlink>
        <a:srgbClr val="7C8AA5"/>
      </a:folHlink>
    </a:clrScheme>
    <a:fontScheme name="Intensity Ram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Intensity Ramp</vt:lpstr>
      <vt:lpstr>Contrast Enhancement Using Contrast Stretching</vt:lpstr>
      <vt:lpstr>The Washed-Out Image</vt:lpstr>
      <vt:lpstr>How Stretching Works</vt:lpstr>
      <vt:lpstr>Redistributing Intensities</vt:lpstr>
      <vt:lpstr>Why Details Become Visible</vt:lpstr>
      <vt:lpstr>Problem 2: The Calculation</vt:lpstr>
      <vt:lpstr>Input–Output Mapping</vt:lpstr>
      <vt:lpstr>Advantages and Limitations</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Contrast Enhancement Using Contrast Stretching</dc:title>
  <dc:subject>PptxGenJS Presentation</dc:subject>
  <dc:creator>Keerthivasan S</dc:creator>
  <cp:lastModifiedBy>keerthivasan S</cp:lastModifiedBy>
  <cp:revision>2</cp:revision>
  <dcterms:created xsi:type="dcterms:W3CDTF">2026-10-26T02:59:17Z</dcterms:created>
  <dcterms:modified xsi:type="dcterms:W3CDTF">2026-10-26T03:32:28Z</dcterms:modified>
</cp:coreProperties>
</file>